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007BFF"/>
                </a:solidFill>
                <a:latin typeface="Segoe UI"/>
              </a:defRPr>
            </a:pPr>
            <a:r>
              <a:t>PMOS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Segoe UI"/>
              </a:defRPr>
            </a:pPr>
            <a:r>
              <a:t>Perpetual Multi-Agent Orchestration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Segoe UI"/>
              </a:defRPr>
            </a:pPr>
            <a:r>
              <a:t>Self-extending AI orchestration that connects structured &amp; unstructured data sources</a:t>
            </a:r>
            <a:br/>
            <a:r>
              <a:t>through collaborative agents for instant cross-domain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A6FF"/>
                </a:solidFill>
                <a:latin typeface="Segoe UI"/>
              </a:defRPr>
            </a:pPr>
            <a:r>
              <a:t>Architecture &amp; Value Proposition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BFF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Analysts spend 70% of their time finding data, not analyzing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12801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4864" cy="128016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4336"/>
                </a:solidFill>
                <a:latin typeface="Segoe UI"/>
              </a:defRPr>
            </a:pPr>
            <a:r>
              <a:t>Data Silos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10896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SQL databases, graph stores, documents,</a:t>
            </a:r>
            <a:br/>
            <a:r>
              <a:t>APIs, and code repos — all disconnected.</a:t>
            </a:r>
            <a:br/>
            <a:r>
              <a:t>No unified query 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383280" cy="12801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828800"/>
            <a:ext cx="54864" cy="128016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920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Manual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240280"/>
            <a:ext cx="310896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Copy-paste between tools. Context</a:t>
            </a:r>
            <a:br/>
            <a:r>
              <a:t>switching. Reformatting. Hours spent</a:t>
            </a:r>
            <a:br/>
            <a:r>
              <a:t>on plumbing, not insights.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828800"/>
            <a:ext cx="3383280" cy="12801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63840" y="1828800"/>
            <a:ext cx="54864" cy="128016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9" y="1920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No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2240280"/>
            <a:ext cx="310896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Every query starts from scratch.</a:t>
            </a:r>
            <a:br/>
            <a:r>
              <a:t>No memory of past analyses.</a:t>
            </a:r>
            <a:br/>
            <a:r>
              <a:t>No quality feedback loop.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74720"/>
            <a:ext cx="512064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474720"/>
            <a:ext cx="54864" cy="228600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4336"/>
                </a:solidFill>
                <a:latin typeface="Segoe UI"/>
              </a:defRPr>
            </a:pPr>
            <a:r>
              <a:t>A Typical Cross-Domain Analysis Today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8620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1. Log into MySQL Workbench, write SQL, export CSV</a:t>
            </a:r>
            <a:br/>
            <a:r>
              <a:t>2. Open Neo4j Browser, write Cypher, copy results</a:t>
            </a:r>
            <a:br/>
            <a:r>
              <a:t>3. Read 20-page DOCX report manually for context</a:t>
            </a:r>
            <a:br/>
            <a:r>
              <a:t>4. Open Jupyter, write Python, run calculations</a:t>
            </a:r>
            <a:br/>
            <a:r>
              <a:t>5. Search GitHub for reference implementations</a:t>
            </a:r>
            <a:br/>
            <a:r>
              <a:t>6. Copy everything into PowerPoint</a:t>
            </a:r>
            <a:br/>
            <a:br/>
            <a:r>
              <a:t>Time: 2-4 hours per analysis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3474720"/>
            <a:ext cx="512064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474720"/>
            <a:ext cx="54864" cy="22860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With PMOS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88620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Ask a single natural language question.</a:t>
            </a:r>
            <a:br/>
            <a:br/>
            <a:r>
              <a:t>The system automatically:</a:t>
            </a:r>
            <a:br/>
            <a:r>
              <a:t>- Decomposes into sub-tasks</a:t>
            </a:r>
            <a:br/>
            <a:r>
              <a:t>- Selects the right agents &amp; tools</a:t>
            </a:r>
            <a:br/>
            <a:r>
              <a:t>- Queries all data sources in parallel</a:t>
            </a:r>
            <a:br/>
            <a:r>
              <a:t>- Synthesizes into a unified report</a:t>
            </a:r>
            <a:br/>
            <a:br/>
            <a:r>
              <a:t>Time: 15 seconds - 3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BFF"/>
                </a:solidFill>
                <a:latin typeface="Segoe UI"/>
              </a:defRPr>
            </a:pPr>
            <a:r>
              <a:t>Value Proposition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383280" cy="18288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4864" cy="18288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For Business Analysts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Ask questions in plain English</a:t>
            </a:r>
            <a:br/>
            <a:r>
              <a:t>- No SQL/Cypher/Python needed</a:t>
            </a:r>
            <a:br/>
            <a:r>
              <a:t>- Upload docs, get instant answers</a:t>
            </a:r>
            <a:br/>
            <a:r>
              <a:t>- Cross-domain reports in seconds</a:t>
            </a:r>
            <a:br/>
            <a:r>
              <a:t>- Full audit trail of reasoning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383280" cy="18288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280160"/>
            <a:ext cx="54864" cy="18288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For Data Scientists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91639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Rapid hypothesis testing</a:t>
            </a:r>
            <a:br/>
            <a:r>
              <a:t>- Python agent for calculations</a:t>
            </a:r>
            <a:br/>
            <a:r>
              <a:t>- RAG pipeline for any document</a:t>
            </a:r>
            <a:br/>
            <a:r>
              <a:t>- Memory learns from past queries</a:t>
            </a:r>
            <a:br/>
            <a:r>
              <a:t>- RL feedback improves over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280160"/>
            <a:ext cx="3383280" cy="18288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54864" cy="182880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For Decision Makers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1691639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Consolidated cross-domain reports</a:t>
            </a:r>
            <a:br/>
            <a:r>
              <a:t>- No waiting for multiple teams</a:t>
            </a:r>
            <a:br/>
            <a:r>
              <a:t>- Confidence scores on every answer</a:t>
            </a:r>
            <a:br/>
            <a:r>
              <a:t>- Audit trail for compliance</a:t>
            </a:r>
            <a:br/>
            <a:r>
              <a:t>- Self-extending capabilities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74720"/>
            <a:ext cx="512064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474720"/>
            <a:ext cx="54864" cy="228600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Key Differentiators vs ChatGPT/Copilot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8620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ChatGPT: Single LLM, no tool access, no memory, hallucinations</a:t>
            </a:r>
            <a:br/>
            <a:br/>
            <a:r>
              <a:t>PMOS:</a:t>
            </a:r>
            <a:br/>
            <a:r>
              <a:t>  - Multiple specialized agents with dedicated tools</a:t>
            </a:r>
            <a:br/>
            <a:r>
              <a:t>  - Direct SQL, Cypher, API access to YOUR systems</a:t>
            </a:r>
            <a:br/>
            <a:r>
              <a:t>  - 4-tier memory (short/long/reasoning/episodic)</a:t>
            </a:r>
            <a:br/>
            <a:r>
              <a:t>  - RL-trained scoring with adaptive quality bands</a:t>
            </a:r>
            <a:br/>
            <a:r>
              <a:t>  - Every claim backed by tool call + audit trail</a:t>
            </a:r>
            <a:br/>
            <a:r>
              <a:t>  - Self-extends: detects gaps, generates new tools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474720"/>
            <a:ext cx="512064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3474720"/>
            <a:ext cx="54864" cy="2286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Proven 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88620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Test: 5-part cross-domain question requiring</a:t>
            </a:r>
            <a:br/>
            <a:r>
              <a:t>MySQL + Neo4j + DOCX + GitHub + Python</a:t>
            </a:r>
            <a:br/>
            <a:br/>
            <a:r>
              <a:t>  73 task nodes decomposed</a:t>
            </a:r>
            <a:br/>
            <a:r>
              <a:t>  43 sub-agents spawned (depth 3)</a:t>
            </a:r>
            <a:br/>
            <a:r>
              <a:t>  213 agent interactions logged</a:t>
            </a:r>
            <a:br/>
            <a:r>
              <a:t>  86 capability bids evaluated</a:t>
            </a:r>
            <a:br/>
            <a:r>
              <a:t>  4 agents coordinated automatically</a:t>
            </a:r>
            <a:br/>
            <a:r>
              <a:t>  Score: 0.70 (within adaptive band)</a:t>
            </a:r>
            <a:br/>
            <a:r>
              <a:t>  Full audit trail in Neo4j graph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C1 — System Context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B0"/>
                </a:solidFill>
                <a:latin typeface="Segoe UI"/>
              </a:defRPr>
            </a:pPr>
            <a:r>
              <a:t>How PMOS fits in the enterprise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2011680" cy="7315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Business Analysts</a:t>
            </a:r>
            <a:br/>
            <a:r>
              <a:t>&amp; Data Scientists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645920"/>
            <a:ext cx="2011680" cy="7315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Decision Makers</a:t>
            </a:r>
            <a:br/>
            <a:r>
              <a:t>&amp; Managers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1645920"/>
            <a:ext cx="2011680" cy="7315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Developers &amp;</a:t>
            </a:r>
            <a:br/>
            <a:r>
              <a:t>Architects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926080"/>
            <a:ext cx="5486400" cy="13716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PMOS — Perpetual Multi-Agent Orchestration System</a:t>
            </a:r>
          </a:p>
          <a:p>
            <a:pPr algn="ctr">
              <a:defRPr sz="1000">
                <a:solidFill>
                  <a:srgbClr val="CCDDFF"/>
                </a:solidFill>
              </a:defRPr>
            </a:pPr>
            <a:r>
              <a:t>Natural language → Cross-domain analysis → Structured 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029200"/>
            <a:ext cx="164592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MySQL</a:t>
            </a:r>
            <a:br/>
            <a:r>
              <a:t>Databases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5029200"/>
            <a:ext cx="164592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Neo4j</a:t>
            </a:r>
            <a:br/>
            <a:r>
              <a:t>Graph 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5029200"/>
            <a:ext cx="164592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Document</a:t>
            </a:r>
            <a:br/>
            <a:r>
              <a:t>Store (Qdrant)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5029200"/>
            <a:ext cx="164592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External APIs</a:t>
            </a:r>
            <a:br/>
            <a:r>
              <a:t>(GitHub, REST)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5029200"/>
            <a:ext cx="164592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LLM Providers</a:t>
            </a:r>
            <a:br/>
            <a:r>
              <a:t>(OpenAI, etc.)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332720" y="5029200"/>
            <a:ext cx="137160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Redis</a:t>
            </a:r>
            <a:br/>
            <a:r>
              <a:t>Streams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7440" y="2377440"/>
            <a:ext cx="2651760" cy="54864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943600" y="2377440"/>
            <a:ext cx="91440" cy="54864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858000" y="2377440"/>
            <a:ext cx="2834640" cy="54864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28016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29184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30352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31520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32688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97280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C2 — Container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7 microservices + React frontend + 4 backing stores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286000" cy="640080"/>
          </a:xfrm>
          <a:prstGeom prst="round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React Frontend</a:t>
            </a:r>
            <a:br/>
            <a:r>
              <a:t>Port 3000 | Vite + MUI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188720"/>
            <a:ext cx="2286000" cy="640080"/>
          </a:xfrm>
          <a:prstGeom prst="roundRect">
            <a:avLst/>
          </a:prstGeom>
          <a:solidFill>
            <a:srgbClr val="015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API Gateway</a:t>
            </a:r>
            <a:br/>
            <a:r>
              <a:t>Port 4000 | Express + JWT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377440"/>
            <a:ext cx="1828800" cy="9144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Orchestrator</a:t>
            </a:r>
            <a:br/>
            <a:r>
              <a:t>Port 8000</a:t>
            </a:r>
            <a:br/>
            <a:r>
              <a:t>FastAPI</a:t>
            </a:r>
            <a:br/>
            <a:r>
              <a:t>Pipeline + Graph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377440"/>
            <a:ext cx="1828800" cy="914400"/>
          </a:xfrm>
          <a:prstGeom prst="roundRect">
            <a:avLst/>
          </a:prstGeom>
          <a:solidFill>
            <a:srgbClr val="286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Agent-Mgmt</a:t>
            </a:r>
            <a:br/>
            <a:r>
              <a:t>Port 4001</a:t>
            </a:r>
            <a:br/>
            <a:r>
              <a:t>Express</a:t>
            </a:r>
            <a:br/>
            <a:r>
              <a:t>CRUD + Execution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377440"/>
            <a:ext cx="1828800" cy="91440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Memory</a:t>
            </a:r>
            <a:br/>
            <a:r>
              <a:t>Port 8001</a:t>
            </a:r>
            <a:br/>
            <a:r>
              <a:t>FastAPI</a:t>
            </a:r>
            <a:br/>
            <a:r>
              <a:t>4-Tier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377440"/>
            <a:ext cx="1828800" cy="9144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RAG</a:t>
            </a:r>
            <a:br/>
            <a:r>
              <a:t>Port 8002</a:t>
            </a:r>
            <a:br/>
            <a:r>
              <a:t>FastAPI</a:t>
            </a:r>
            <a:br/>
            <a:r>
              <a:t>Chunk + Embed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2377440"/>
            <a:ext cx="1828800" cy="91440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Scoring</a:t>
            </a:r>
            <a:br/>
            <a:r>
              <a:t>Port 8003</a:t>
            </a:r>
            <a:br/>
            <a:r>
              <a:t>FastAPI</a:t>
            </a:r>
            <a:br/>
            <a:r>
              <a:t>RL + Bands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0" y="2377440"/>
            <a:ext cx="1554480" cy="9144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Meta-Assembly</a:t>
            </a:r>
            <a:br/>
            <a:r>
              <a:t>Port 8004</a:t>
            </a:r>
            <a:br/>
            <a:r>
              <a:t>FastAPI</a:t>
            </a:r>
            <a:br/>
            <a:r>
              <a:t>Gap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931920"/>
            <a:ext cx="2286000" cy="73152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MySQL 8.0</a:t>
            </a:r>
            <a:br/>
            <a:r>
              <a:t>Port 3306</a:t>
            </a:r>
            <a:br/>
            <a:r>
              <a:t>23 tables | Host-installed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3931920"/>
            <a:ext cx="2286000" cy="73152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Neo4j AuraDB</a:t>
            </a:r>
            <a:br/>
            <a:r>
              <a:t>Cloud (TLS)</a:t>
            </a:r>
            <a:br/>
            <a:r>
              <a:t>Graph: Tasks,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3931920"/>
            <a:ext cx="2286000" cy="73152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Qdrant</a:t>
            </a:r>
            <a:br/>
            <a:r>
              <a:t>Port 6333</a:t>
            </a:r>
            <a:br/>
            <a:r>
              <a:t>Vector Store (RAG)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3931920"/>
            <a:ext cx="2286000" cy="73152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Redis 7</a:t>
            </a:r>
            <a:br/>
            <a:r>
              <a:t>Port 6379</a:t>
            </a:r>
            <a:br/>
            <a:r>
              <a:t>7 Streams + Rate Limit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Data Flow:</a:t>
            </a:r>
            <a:br/>
            <a:r>
              <a:t>User → Frontend → Gateway (auth + rate-limit) → Orchestrator → Pipeline</a:t>
            </a:r>
            <a:br/>
            <a:r>
              <a:t>Pipeline: Decompose → Negotiate (agents bid) → Execute (tool-use loop + sub-agents) → Score → Aggregate → Learn</a:t>
            </a:r>
            <a:br/>
            <a:r>
              <a:t>Streams: memory:writes (103) | scoring:feedback (30) | events:telemetry (210) | events:tool_health (41) | events:documents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C3 — Orchestrator Component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The brain of the system: 10-step pipeline with recursive sub-agent spawning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828800" cy="457200"/>
          </a:xfrm>
          <a:prstGeom prst="roundRect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 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Load Team</a:t>
            </a:r>
            <a:br/>
            <a:r>
              <a:t>Hierarchy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94560" y="1417320"/>
            <a:ext cx="13716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86000" y="1188720"/>
            <a:ext cx="1828800" cy="4572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Steps 1-2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LLM Task</a:t>
            </a:r>
            <a:br/>
            <a:r>
              <a:t>Decomposition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1417320"/>
            <a:ext cx="13716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06240" y="1188720"/>
            <a:ext cx="1828800" cy="45720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Capability</a:t>
            </a:r>
            <a:br/>
            <a:r>
              <a:t>Negotiation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5040" y="1417320"/>
            <a:ext cx="13716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26479" y="1188720"/>
            <a:ext cx="1828800" cy="45720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Steps 4-7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79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Agentic</a:t>
            </a:r>
            <a:br/>
            <a:r>
              <a:t>Tool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79" y="1417320"/>
            <a:ext cx="137161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046719" y="1188720"/>
            <a:ext cx="1828800" cy="45720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Result</a:t>
            </a:r>
            <a:br/>
            <a:r>
              <a:t>Aggregation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75519" y="1417320"/>
            <a:ext cx="137161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966959" y="1188720"/>
            <a:ext cx="18288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 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59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Memory +</a:t>
            </a:r>
            <a:br/>
            <a:r>
              <a:t>RL Learning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743200"/>
            <a:ext cx="2743200" cy="13716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2743200"/>
            <a:ext cx="54864" cy="137160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34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Capability Negotiation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546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Broadcast bid to all agents</a:t>
            </a:r>
            <a:br/>
            <a:r>
              <a:t>- LLM self-assessment per agent</a:t>
            </a:r>
            <a:br/>
            <a:r>
              <a:t>- Rank: 60% conf + 25% mem + 15% lat</a:t>
            </a:r>
            <a:br/>
            <a:r>
              <a:t>- Assign winner + fallback chain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2743200"/>
            <a:ext cx="2743200" cy="13716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2743200"/>
            <a:ext cx="54864" cy="1371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2834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Agentic Tool-Use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1546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Max 5 iterations per agent</a:t>
            </a:r>
            <a:br/>
            <a:r>
              <a:t>- Tools: DB, Graph, API, Python, GitHub</a:t>
            </a:r>
            <a:br/>
            <a:r>
              <a:t>- spawn_sub_agent for delegation</a:t>
            </a:r>
            <a:br/>
            <a:r>
              <a:t>- Auto-continue truncated responses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743200"/>
            <a:ext cx="2743200" cy="13716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2743200"/>
            <a:ext cx="54864" cy="13716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834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Sub-Agent Spawning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1546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Recursive (max depth 3)</a:t>
            </a:r>
            <a:br/>
            <a:r>
              <a:t>- Own context, tools, memory</a:t>
            </a:r>
            <a:br/>
            <a:r>
              <a:t>- Negotiated from team specialists</a:t>
            </a:r>
            <a:br/>
            <a:r>
              <a:t>- Result → parent as tool_result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2743200"/>
            <a:ext cx="2743200" cy="13716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4000" y="2743200"/>
            <a:ext cx="54864" cy="137160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834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4336"/>
                </a:solidFill>
                <a:latin typeface="Segoe UI"/>
              </a:defRPr>
            </a:pPr>
            <a:r>
              <a:t>Scoring &amp; Correction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31546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S = w1·R + w2·A + w3·P + w4·L + ...</a:t>
            </a:r>
            <a:br/>
            <a:r>
              <a:t>- Adaptive band: mean ± std × k</a:t>
            </a:r>
            <a:br/>
            <a:r>
              <a:t>- Below band → fallback agent</a:t>
            </a:r>
            <a:br/>
            <a:r>
              <a:t>- RL weight updates (Q-learning)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4389120"/>
            <a:ext cx="5486400" cy="18288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389120"/>
            <a:ext cx="54864" cy="18288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48055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95C"/>
                </a:solidFill>
                <a:latin typeface="Segoe UI"/>
              </a:defRPr>
            </a:pPr>
            <a:r>
              <a:t>Neo4j Execution Graph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800600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TaskGraph → TaskNode (ROOT/SUBTASK/SUB_AGENT)</a:t>
            </a:r>
            <a:br/>
            <a:r>
              <a:t>  └─ SPAWNED_BY → parent TaskNode</a:t>
            </a:r>
            <a:br/>
            <a:r>
              <a:t>  └─ PRODUCED_EVENT → ExecutionEvent (BID_WON, SCORE, etc.)</a:t>
            </a:r>
            <a:br/>
            <a:r>
              <a:t>  └─ HAS_INTERACTION → AgentInteraction</a:t>
            </a:r>
            <a:br/>
            <a:r>
              <a:t>Agent → MEMBER_OF → Team</a:t>
            </a:r>
            <a:br/>
            <a:br/>
            <a:r>
              <a:t>Every execution creates a live, queryable graph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35040" y="4389120"/>
            <a:ext cx="5486400" cy="18288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35040" y="4389120"/>
            <a:ext cx="54864" cy="182880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448055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Memory Architecture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800600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SHORT_TERM:  Redis hash, TTL-based, session context</a:t>
            </a:r>
            <a:br/>
            <a:r>
              <a:t>LONG_TERM:   MySQL + FAISS, persistent knowledge</a:t>
            </a:r>
            <a:br/>
            <a:r>
              <a:t>REASONING:   MySQL JSON, distilled patterns</a:t>
            </a:r>
            <a:br/>
            <a:r>
              <a:t>EPISODIC:    MySQL + FAISS, full execution episodes</a:t>
            </a:r>
            <a:br/>
            <a:br/>
            <a:r>
              <a:t>All 4 tiers assembled into system prompt before every</a:t>
            </a:r>
            <a:br/>
            <a:r>
              <a:t>agent execution. Agents learn from past conversations.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C4 — Code-Level: Pipeline Execution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103120" cy="5486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User Message</a:t>
            </a:r>
            <a:br/>
            <a:r>
              <a:t>(natural language)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60320" y="137160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834640" y="1097280"/>
            <a:ext cx="2103120" cy="54864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LLM Decompose</a:t>
            </a:r>
            <a:br/>
            <a:r>
              <a:t>→ TaskGraph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137160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12080" y="1097280"/>
            <a:ext cx="2103120" cy="54864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Negotiate</a:t>
            </a:r>
            <a:br/>
            <a:r>
              <a:t>(parallel bids)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0" y="137160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589520" y="1097280"/>
            <a:ext cx="2103120" cy="548640"/>
          </a:xfrm>
          <a:prstGeom prst="roundRect">
            <a:avLst/>
          </a:prstGeom>
          <a:solidFill>
            <a:srgbClr val="286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Winner Agent</a:t>
            </a:r>
            <a:br/>
            <a:r>
              <a:t>+ Fallback Chain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41080" y="1645920"/>
            <a:ext cx="0" cy="36576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7200" y="2011680"/>
            <a:ext cx="10972800" cy="41148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BFF"/>
                </a:solidFill>
                <a:latin typeface="Segoe UI"/>
              </a:defRPr>
            </a:pPr>
            <a:r>
              <a:t>AGENTIC TOOL-USE LOOP (max 5 iterations)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2011680" cy="64008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Assemble Prompt</a:t>
            </a:r>
            <a:br/>
            <a:r>
              <a:t>Memory (4-tier)</a:t>
            </a:r>
            <a:br/>
            <a:r>
              <a:t>+ RAG docs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88036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017520" y="2560320"/>
            <a:ext cx="2011680" cy="64008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LLM Call</a:t>
            </a:r>
            <a:br/>
            <a:r>
              <a:t>(with tools as</a:t>
            </a:r>
            <a:br/>
            <a:r>
              <a:t>function defs)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0" y="288036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03520" y="2560320"/>
            <a:ext cx="1828800" cy="64008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LLM Response</a:t>
            </a:r>
            <a:br/>
            <a:r>
              <a:t>Text or</a:t>
            </a:r>
            <a:br/>
            <a:r>
              <a:t>Tool Calls?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2320" y="2697480"/>
            <a:ext cx="365759" cy="0"/>
          </a:xfrm>
          <a:prstGeom prst="line">
            <a:avLst/>
          </a:prstGeom>
          <a:ln w="19050">
            <a:solidFill>
              <a:srgbClr val="00C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98079" y="2560320"/>
            <a:ext cx="1645920" cy="64008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Text Response</a:t>
            </a:r>
            <a:br/>
            <a:r>
              <a:t>→ Done</a:t>
            </a:r>
            <a:br/>
            <a:r>
              <a:t>→ Score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0" y="288036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418320" y="2560320"/>
            <a:ext cx="1828800" cy="6400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Score &amp; Band</a:t>
            </a:r>
            <a:br/>
            <a:r>
              <a:t>Check</a:t>
            </a:r>
            <a:br/>
            <a:r>
              <a:t>→ proceed/fix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217920" y="3200400"/>
            <a:ext cx="0" cy="365760"/>
          </a:xfrm>
          <a:prstGeom prst="line">
            <a:avLst/>
          </a:prstGeom>
          <a:ln w="19050">
            <a:solidFill>
              <a:srgbClr val="FF9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0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9F00"/>
                </a:solidFill>
                <a:latin typeface="Segoe UI"/>
              </a:defRPr>
            </a:pPr>
            <a:r>
              <a:t>tool calls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657600"/>
            <a:ext cx="1463040" cy="64008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DATABASE</a:t>
            </a:r>
            <a:br/>
            <a:r>
              <a:t>MySQL query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3657600"/>
            <a:ext cx="1463040" cy="64008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GRAPH</a:t>
            </a:r>
            <a:br/>
            <a:r>
              <a:t>Neo4j Cypher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3657600"/>
            <a:ext cx="1463040" cy="64008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API / GITHUB</a:t>
            </a:r>
            <a:br/>
            <a:r>
              <a:t>HTTP calls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3657600"/>
            <a:ext cx="1463040" cy="64008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PYTHON</a:t>
            </a:r>
            <a:br/>
            <a:r>
              <a:t>Sandbox exec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3657600"/>
            <a:ext cx="2011680" cy="640080"/>
          </a:xfrm>
          <a:prstGeom prst="round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spawn_sub_agent</a:t>
            </a:r>
            <a:br/>
            <a:r>
              <a:t>→ Negotiate</a:t>
            </a:r>
            <a:br/>
            <a:r>
              <a:t>→ Recurse (depth+1)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21040" y="4297680"/>
            <a:ext cx="0" cy="365760"/>
          </a:xfrm>
          <a:prstGeom prst="line">
            <a:avLst/>
          </a:prstGeom>
          <a:ln w="19050">
            <a:solidFill>
              <a:srgbClr val="FF70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315200" y="4663440"/>
            <a:ext cx="2011680" cy="640080"/>
          </a:xfrm>
          <a:prstGeom prst="round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Sub-Agent Loop</a:t>
            </a:r>
            <a:br/>
            <a:r>
              <a:t>(own tools+memory)</a:t>
            </a:r>
            <a:br/>
            <a:r>
              <a:t>max depth 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0" y="3657600"/>
            <a:ext cx="1645920" cy="640080"/>
          </a:xfrm>
          <a:prstGeom prst="roundRect">
            <a:avLst/>
          </a:prstGeom>
          <a:solidFill>
            <a:srgbClr val="286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tool_result</a:t>
            </a:r>
            <a:br/>
            <a:r>
              <a:t>→ back to LLM</a:t>
            </a:r>
            <a:br/>
            <a:r>
              <a:t>→ next iteration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5303520"/>
            <a:ext cx="2743200" cy="64008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Memory Write</a:t>
            </a:r>
            <a:br/>
            <a:r>
              <a:t>(episodic + Redis stream)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5303520"/>
            <a:ext cx="2743200" cy="64008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RL Feedback</a:t>
            </a:r>
            <a:br/>
            <a:r>
              <a:t>(scoring:feedback stream)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78240" y="5303520"/>
            <a:ext cx="2743200" cy="64008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Final Response</a:t>
            </a:r>
            <a:br/>
            <a:r>
              <a:t>→ Gateway → User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BFF"/>
                </a:solidFill>
                <a:latin typeface="Segoe UI"/>
              </a:defRPr>
            </a:pPr>
            <a:r>
              <a:t>High-Value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" cy="219456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Portfolio Risk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3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"How does our loan portfolio risk compare</a:t>
            </a:r>
            <a:br/>
            <a:r>
              <a:t>to the MBA industry forecast?"</a:t>
            </a:r>
            <a:br/>
            <a:br/>
            <a:r>
              <a:t>Sources: Graph + Document (RAG)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280160"/>
            <a:ext cx="54864" cy="219456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Compliance Cross-Check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9163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"Which loans in CA and NY need enhanced</a:t>
            </a:r>
            <a:br/>
            <a:r>
              <a:t>TRID/TILA review per our policy memo?"</a:t>
            </a:r>
            <a:br/>
            <a:br/>
            <a:r>
              <a:t>Sources: Graph + Document + MySQL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280160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280160"/>
            <a:ext cx="54864" cy="219456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Stress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69163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"Run a stress test on HELOC portfolio</a:t>
            </a:r>
            <a:br/>
            <a:r>
              <a:t>assuming rates increase 200bps"</a:t>
            </a:r>
            <a:br/>
            <a:br/>
            <a:r>
              <a:t>Sources: Graph + Python + Policies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79"/>
            <a:ext cx="54864" cy="219456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Market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5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"Find open-source amortization tools and</a:t>
            </a:r>
            <a:br/>
            <a:r>
              <a:t>compare their approaches to our models"</a:t>
            </a:r>
            <a:br/>
            <a:br/>
            <a:r>
              <a:t>Sources: GitHub + Python +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840479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3840479"/>
            <a:ext cx="54864" cy="2194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9319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95C"/>
                </a:solidFill>
                <a:latin typeface="Segoe UI"/>
              </a:defRPr>
            </a:pPr>
            <a:r>
              <a:t>Borrower 360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25195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"Give me everything about LOAN001 —</a:t>
            </a:r>
            <a:br/>
            <a:r>
              <a:t>borrower, property, payments, compliance"</a:t>
            </a:r>
            <a:br/>
            <a:br/>
            <a:r>
              <a:t>Sources: Neo4j Graph (single query)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840479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3840479"/>
            <a:ext cx="54864" cy="219456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9319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4336"/>
                </a:solidFill>
                <a:latin typeface="Segoe UI"/>
              </a:defRPr>
            </a:pPr>
            <a:r>
              <a:t>Cross-Domain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25195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"Top film revenues vs mortgage portfolio</a:t>
            </a:r>
            <a:br/>
            <a:r>
              <a:t>performance with Python projections"</a:t>
            </a:r>
            <a:br/>
            <a:br/>
            <a:r>
              <a:t>Sources: MySQL + Graph + Python + RAG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B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" cy="2286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React 18 + TypeScript</a:t>
            </a:r>
            <a:br/>
            <a:r>
              <a:t>Vite (dev server, port 3000)</a:t>
            </a:r>
            <a:br/>
            <a:r>
              <a:t>Material UI 5</a:t>
            </a:r>
            <a:br/>
            <a:r>
              <a:t>D3.js (sequence diagrams, force graphs)</a:t>
            </a:r>
            <a:br/>
            <a:r>
              <a:t>React Query (data fetching)</a:t>
            </a:r>
            <a:br/>
            <a:r>
              <a:t>Zustand (state management)</a:t>
            </a:r>
            <a:br/>
            <a:r>
              <a:t>15 pages: Chat, Agent Studio, Monitors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54864" cy="22860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280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Backend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0020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2 Node.js (Express 5 + TypeScript)</a:t>
            </a:r>
            <a:br/>
            <a:r>
              <a:t>  - Gateway (auth, routing, WebSocket)</a:t>
            </a:r>
            <a:br/>
            <a:r>
              <a:t>  - Agent-Mgmt (CRUD, tool execution)</a:t>
            </a:r>
            <a:br/>
            <a:br/>
            <a:r>
              <a:t>5 Python (FastAPI 0.109)</a:t>
            </a:r>
            <a:br/>
            <a:r>
              <a:t>  - Orchestrator, Memory, RAG,</a:t>
            </a:r>
            <a:br/>
            <a:r>
              <a:t>    Scoring, Meta-Assembly</a:t>
            </a:r>
            <a:br/>
            <a:r>
              <a:t>  - All Dockerized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188720"/>
            <a:ext cx="54864" cy="228600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280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Data Stores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60020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MySQL 8.0 — 23 tables</a:t>
            </a:r>
            <a:br/>
            <a:r>
              <a:t>  Agents, tools, scores, memory, docs</a:t>
            </a:r>
            <a:br/>
            <a:br/>
            <a:r>
              <a:t>Neo4j AuraDB — Cloud graph</a:t>
            </a:r>
            <a:br/>
            <a:r>
              <a:t>  Tasks, execution events, interactions</a:t>
            </a:r>
            <a:br/>
            <a:br/>
            <a:r>
              <a:t>Qdrant — Vector store (RAG)</a:t>
            </a:r>
            <a:br/>
            <a:r>
              <a:t>Redis 7 — Streams + rate limiting</a:t>
            </a:r>
            <a:br/>
            <a:r>
              <a:t>FAISS — Local vector backup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54864" cy="228600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AI &amp; 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6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LLM: OpenAI GPT-4o / GPT-4o-mini</a:t>
            </a:r>
            <a:br/>
            <a:r>
              <a:t>  (pluggable: Anthropic, Google, Ollama)</a:t>
            </a:r>
            <a:br/>
            <a:br/>
            <a:r>
              <a:t>Embeddings: sentence-transformers</a:t>
            </a:r>
            <a:br/>
            <a:r>
              <a:t>  all-mpnet-base-v2 (768-dim)</a:t>
            </a:r>
            <a:br/>
            <a:br/>
            <a:r>
              <a:t>Re-ranking: cross-encoder/ms-marco</a:t>
            </a:r>
            <a:br/>
            <a:br/>
            <a:r>
              <a:t>RL: Q-learning weight updates</a:t>
            </a:r>
            <a:br/>
            <a:r>
              <a:t>Scoring: 6-factor weighted formula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84048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3840480"/>
            <a:ext cx="54864" cy="2286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931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95C"/>
                </a:solidFill>
                <a:latin typeface="Segoe UI"/>
              </a:defRPr>
            </a:pPr>
            <a:r>
              <a:t>Document 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25196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PDF: PyPDF2 (text extraction)</a:t>
            </a:r>
            <a:br/>
            <a:r>
              <a:t>DOCX: python-docx (paragraphs + tables)</a:t>
            </a:r>
            <a:br/>
            <a:r>
              <a:t>XLSX: openpyxl (multi-sheet)</a:t>
            </a:r>
            <a:br/>
            <a:r>
              <a:t>HTML: BeautifulSoup4</a:t>
            </a:r>
            <a:br/>
            <a:r>
              <a:t>CSV, JSON, Markdown, TXT</a:t>
            </a:r>
            <a:br/>
            <a:br/>
            <a:r>
              <a:t>Chunking: fixed / sentence / paragraph</a:t>
            </a:r>
            <a:br/>
            <a:r>
              <a:t>Configurable chunk size + overlap</a:t>
            </a:r>
            <a:br/>
            <a:r>
              <a:t>Selectable embedding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84048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3840480"/>
            <a:ext cx="54864" cy="2286000"/>
          </a:xfrm>
          <a:prstGeom prst="rect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931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55A64"/>
                </a:solidFill>
                <a:latin typeface="Segoe UI"/>
              </a:defRPr>
            </a:pPr>
            <a:r>
              <a:t>Infrastructure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25196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Docker Compose — 7 containers</a:t>
            </a:r>
            <a:br/>
            <a:r>
              <a:t>pmos.sh — service manager</a:t>
            </a:r>
            <a:br/>
            <a:br/>
            <a:r>
              <a:t>Observability:</a:t>
            </a:r>
            <a:br/>
            <a:r>
              <a:t>  Structured JSON logs (trace_id)</a:t>
            </a:r>
            <a:br/>
            <a:r>
              <a:t>  Prometheus metrics on every service</a:t>
            </a:r>
            <a:br/>
            <a:r>
              <a:t>  OpenTelemetry spans</a:t>
            </a:r>
            <a:br/>
            <a:br/>
            <a:r>
              <a:t>Circuit breakers + retry (tenacity)</a:t>
            </a:r>
            <a:br/>
            <a:r>
              <a:t>Redis Streams for async events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7BFF"/>
                </a:solidFill>
                <a:latin typeface="Segoe UI"/>
              </a:defRPr>
            </a:pPr>
            <a:r>
              <a:t>PMOS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Segoe UI"/>
              </a:defRPr>
            </a:pPr>
            <a:r>
              <a:t>Connect any data source. Ask any question.</a:t>
            </a:r>
            <a:br/>
            <a:r>
              <a:t>Get answers in minutes, not hours.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0B0B0"/>
                </a:solidFill>
                <a:latin typeface="Segoe UI"/>
              </a:defRPr>
            </a:pPr>
            <a:r>
              <a:t>7 microservices  |  4 data stores  |  6 agents  |  7 Redis streams</a:t>
            </a:r>
            <a:br/>
            <a:br/>
            <a:r>
              <a:t>Recursive sub-agent spawning  |  Capability negotiation  |  RL scoring</a:t>
            </a:r>
            <a:br/>
            <a:br/>
            <a:r>
              <a:t>4-tier memory  |  RAG pipeline  |  Full audit trail  |  Self-extending</a:t>
            </a:r>
            <a:br/>
            <a:br/>
            <a:r>
              <a:t>PDF, DOCX, XLSX, HTML, CSV, JSON, Markdown  |  MySQL, Neo4j, Qdrant</a:t>
            </a:r>
            <a:br/>
            <a:br/>
            <a:r>
              <a:t>One question → decompose → negotiate → execute → score → learn → respond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760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DA6FF"/>
                </a:solidFill>
                <a:latin typeface="Segoe UI"/>
              </a:defRPr>
            </a:pPr>
            <a:r>
              <a:t>github.com/kreonakrish  |  localhost:3000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