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007BFF"/>
                </a:solidFill>
                <a:latin typeface="Segoe UI"/>
              </a:defRPr>
            </a:pPr>
            <a:r>
              <a:t>PMOS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Segoe UI"/>
              </a:defRPr>
            </a:pPr>
            <a:r>
              <a:t>Perpetual Multi-Agent Orchestration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Segoe UI"/>
              </a:defRPr>
            </a:pPr>
            <a:r>
              <a:t>Self-extending AI orchestration that connects structured &amp; unstructured data sources</a:t>
            </a:r>
            <a:br/>
            <a:r>
              <a:t>through collaborative agents for instant cross-domain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5029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DA6FF"/>
                </a:solidFill>
                <a:latin typeface="Segoe UI"/>
              </a:defRPr>
            </a:pPr>
            <a:r>
              <a:t>Architecture &amp; Value Proposition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BFF"/>
                </a:solidFill>
                <a:latin typeface="Segoe U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Segoe UI"/>
              </a:defRPr>
            </a:pPr>
            <a:r>
              <a:t>Analysts spend 70% of their time finding data, not analyzing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83280" cy="128016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4864" cy="128016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44336"/>
                </a:solidFill>
                <a:latin typeface="Segoe UI"/>
              </a:defRPr>
            </a:pPr>
            <a:r>
              <a:t>Data Silos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3108960" cy="777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SQL databases, graph stores, documents,</a:t>
            </a:r>
            <a:br/>
            <a:r>
              <a:t>APIs, and code repos — all disconnected.</a:t>
            </a:r>
            <a:br/>
            <a:r>
              <a:t>No unified query layer.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828800"/>
            <a:ext cx="3383280" cy="128016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828800"/>
            <a:ext cx="54864" cy="1280160"/>
          </a:xfrm>
          <a:prstGeom prst="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9202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00"/>
                </a:solidFill>
                <a:latin typeface="Segoe UI"/>
              </a:defRPr>
            </a:pPr>
            <a:r>
              <a:t>Manual Integration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240280"/>
            <a:ext cx="3108960" cy="777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Copy-paste between tools. Context</a:t>
            </a:r>
            <a:br/>
            <a:r>
              <a:t>switching. Reformatting. Hours spent</a:t>
            </a:r>
            <a:br/>
            <a:r>
              <a:t>on plumbing, not insights.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828800"/>
            <a:ext cx="3383280" cy="128016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63840" y="1828800"/>
            <a:ext cx="54864" cy="1280160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9" y="19202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B47BC"/>
                </a:solidFill>
                <a:latin typeface="Segoe UI"/>
              </a:defRPr>
            </a:pPr>
            <a:r>
              <a:t>No 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9" y="2240280"/>
            <a:ext cx="3108960" cy="777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Every query starts from scratch.</a:t>
            </a:r>
            <a:br/>
            <a:r>
              <a:t>No memory of past analyses.</a:t>
            </a:r>
            <a:br/>
            <a:r>
              <a:t>No quality feedback loop.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474720"/>
            <a:ext cx="5120640" cy="22860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474720"/>
            <a:ext cx="54864" cy="228600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661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44336"/>
                </a:solidFill>
                <a:latin typeface="Segoe UI"/>
              </a:defRPr>
            </a:pPr>
            <a:r>
              <a:t>A Typical Cross-Domain Analysis Today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8620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1. Log into MySQL Workbench, write SQL, export CSV</a:t>
            </a:r>
            <a:br/>
            <a:r>
              <a:t>2. Open Neo4j Browser, write Cypher, copy results</a:t>
            </a:r>
            <a:br/>
            <a:r>
              <a:t>3. Read 20-page DOCX report manually for context</a:t>
            </a:r>
            <a:br/>
            <a:r>
              <a:t>4. Open Jupyter, write Python, run calculations</a:t>
            </a:r>
            <a:br/>
            <a:r>
              <a:t>5. Search GitHub for reference implementations</a:t>
            </a:r>
            <a:br/>
            <a:r>
              <a:t>6. Copy everything into PowerPoint</a:t>
            </a:r>
            <a:br/>
            <a:br/>
            <a:r>
              <a:t>Time: 2-4 hours per analysis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35040" y="3474720"/>
            <a:ext cx="5120640" cy="22860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35040" y="3474720"/>
            <a:ext cx="54864" cy="22860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5661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  <a:latin typeface="Segoe UI"/>
              </a:defRPr>
            </a:pPr>
            <a:r>
              <a:t>With PMOS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88620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Ask a single natural language question.</a:t>
            </a:r>
            <a:br/>
            <a:br/>
            <a:r>
              <a:t>The system automatically:</a:t>
            </a:r>
            <a:br/>
            <a:r>
              <a:t>- Decomposes into sub-tasks</a:t>
            </a:r>
            <a:br/>
            <a:r>
              <a:t>- Selects the right agents &amp; tools</a:t>
            </a:r>
            <a:br/>
            <a:r>
              <a:t>- Queries all data sources in parallel</a:t>
            </a:r>
            <a:br/>
            <a:r>
              <a:t>- Synthesizes into a unified report</a:t>
            </a:r>
            <a:br/>
            <a:br/>
            <a:r>
              <a:t>Time: 15 seconds - 3 minutes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BFF"/>
                </a:solidFill>
                <a:latin typeface="Segoe UI"/>
              </a:defRPr>
            </a:pPr>
            <a:r>
              <a:t>Value Proposition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3383280" cy="18288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4864" cy="18288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  <a:latin typeface="Segoe UI"/>
              </a:defRPr>
            </a:pPr>
            <a:r>
              <a:t>For Business Analysts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91639"/>
            <a:ext cx="3108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- Ask questions in plain English</a:t>
            </a:r>
            <a:br/>
            <a:r>
              <a:t>- No SQL/Cypher/Python needed</a:t>
            </a:r>
            <a:br/>
            <a:r>
              <a:t>- Upload docs, get instant answers</a:t>
            </a:r>
            <a:br/>
            <a:r>
              <a:t>- Cross-domain reports in seconds</a:t>
            </a:r>
            <a:br/>
            <a:r>
              <a:t>- Full audit trail of reasoning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280160"/>
            <a:ext cx="3383280" cy="18288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97680" y="1280160"/>
            <a:ext cx="54864" cy="18288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71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FF"/>
                </a:solidFill>
                <a:latin typeface="Segoe UI"/>
              </a:defRPr>
            </a:pPr>
            <a:r>
              <a:t>For Data Scientists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691639"/>
            <a:ext cx="3108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- Rapid hypothesis testing</a:t>
            </a:r>
            <a:br/>
            <a:r>
              <a:t>- Python agent for calculations</a:t>
            </a:r>
            <a:br/>
            <a:r>
              <a:t>- RAG pipeline for any document</a:t>
            </a:r>
            <a:br/>
            <a:r>
              <a:t>- Memory learns from past queries</a:t>
            </a:r>
            <a:br/>
            <a:r>
              <a:t>- RL feedback improves over 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1280160"/>
            <a:ext cx="3383280" cy="18288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63840" y="1280160"/>
            <a:ext cx="54864" cy="1828800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9" y="1371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B47BC"/>
                </a:solidFill>
                <a:latin typeface="Segoe UI"/>
              </a:defRPr>
            </a:pPr>
            <a:r>
              <a:t>For Decision Makers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9" y="1691639"/>
            <a:ext cx="3108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- Consolidated cross-domain reports</a:t>
            </a:r>
            <a:br/>
            <a:r>
              <a:t>- No waiting for multiple teams</a:t>
            </a:r>
            <a:br/>
            <a:r>
              <a:t>- Confidence scores on every answer</a:t>
            </a:r>
            <a:br/>
            <a:r>
              <a:t>- Audit trail for compliance</a:t>
            </a:r>
            <a:br/>
            <a:r>
              <a:t>- Self-extending capabilities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74720"/>
            <a:ext cx="5120640" cy="22860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474720"/>
            <a:ext cx="54864" cy="2286000"/>
          </a:xfrm>
          <a:prstGeom prst="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5661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00"/>
                </a:solidFill>
                <a:latin typeface="Segoe UI"/>
              </a:defRPr>
            </a:pPr>
            <a:r>
              <a:t>Key Differentiators vs ChatGPT/Copilot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8620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ChatGPT: Single LLM, no tool access, no memory, hallucinations</a:t>
            </a:r>
            <a:br/>
            <a:br/>
            <a:r>
              <a:t>PMOS:</a:t>
            </a:r>
            <a:br/>
            <a:r>
              <a:t>  - Multiple specialized agents with dedicated tools</a:t>
            </a:r>
            <a:br/>
            <a:r>
              <a:t>  - Direct SQL, Cypher, API access to YOUR systems</a:t>
            </a:r>
            <a:br/>
            <a:r>
              <a:t>  - 4-tier memory (short/long/reasoning/episodic)</a:t>
            </a:r>
            <a:br/>
            <a:r>
              <a:t>  - RL-trained scoring with adaptive quality bands</a:t>
            </a:r>
            <a:br/>
            <a:r>
              <a:t>  - Every claim backed by tool call + audit trail</a:t>
            </a:r>
            <a:br/>
            <a:r>
              <a:t>  - Self-extends: detects gaps, generates new tools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3474720"/>
            <a:ext cx="5120640" cy="22860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35040" y="3474720"/>
            <a:ext cx="54864" cy="22860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35661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FF"/>
                </a:solidFill>
                <a:latin typeface="Segoe UI"/>
              </a:defRPr>
            </a:pPr>
            <a:r>
              <a:t>Proven Results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88620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Test: 5-part cross-domain question requiring</a:t>
            </a:r>
            <a:br/>
            <a:r>
              <a:t>MySQL + Neo4j + DOCX + GitHub + Python</a:t>
            </a:r>
            <a:br/>
            <a:br/>
            <a:r>
              <a:t>  73 task nodes decomposed</a:t>
            </a:r>
            <a:br/>
            <a:r>
              <a:t>  43 sub-agents spawned (depth 3)</a:t>
            </a:r>
            <a:br/>
            <a:r>
              <a:t>  213 agent interactions logged</a:t>
            </a:r>
            <a:br/>
            <a:r>
              <a:t>  86 capability bids evaluated</a:t>
            </a:r>
            <a:br/>
            <a:r>
              <a:t>  4 agents coordinated automatically</a:t>
            </a:r>
            <a:br/>
            <a:r>
              <a:t>  Score: 0.70 (within adaptive band)</a:t>
            </a:r>
            <a:br/>
            <a:r>
              <a:t>  Full audit trail in Neo4j graph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BFF"/>
                </a:solidFill>
                <a:latin typeface="Segoe UI"/>
              </a:defRPr>
            </a:pPr>
            <a:r>
              <a:t>C1 — System Context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B0"/>
                </a:solidFill>
                <a:latin typeface="Segoe UI"/>
              </a:defRPr>
            </a:pPr>
            <a:r>
              <a:t>How PMOS fits in the enterprise ecosystem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2011680" cy="7315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Business Analysts</a:t>
            </a:r>
            <a:br/>
            <a:r>
              <a:t>&amp; Data Scientists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1645920"/>
            <a:ext cx="2011680" cy="7315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Decision Makers</a:t>
            </a:r>
            <a:br/>
            <a:r>
              <a:t>&amp; Managers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1645920"/>
            <a:ext cx="2011680" cy="7315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Developers &amp;</a:t>
            </a:r>
            <a:br/>
            <a:r>
              <a:t>Architects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2926080"/>
            <a:ext cx="5486400" cy="13716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PMOS — Perpetual Multi-Agent Orchestration System</a:t>
            </a:r>
          </a:p>
          <a:p>
            <a:pPr algn="ctr">
              <a:defRPr sz="1000">
                <a:solidFill>
                  <a:srgbClr val="CCDDFF"/>
                </a:solidFill>
              </a:defRPr>
            </a:pPr>
            <a:r>
              <a:t>Natural language → Cross-domain analysis → Structured reports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029200"/>
            <a:ext cx="1645920" cy="82296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MySQL</a:t>
            </a:r>
            <a:br/>
            <a:r>
              <a:t>Databases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68880" y="5029200"/>
            <a:ext cx="1645920" cy="82296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Neo4j</a:t>
            </a:r>
            <a:br/>
            <a:r>
              <a:t>Graph DB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5029200"/>
            <a:ext cx="1645920" cy="82296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Document</a:t>
            </a:r>
            <a:br/>
            <a:r>
              <a:t>Store (Qdrant)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5029200"/>
            <a:ext cx="1645920" cy="82296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External APIs</a:t>
            </a:r>
            <a:br/>
            <a:r>
              <a:t>(GitHub, REST)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0" y="5029200"/>
            <a:ext cx="1645920" cy="82296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LLM Providers</a:t>
            </a:r>
            <a:br/>
            <a:r>
              <a:t>(OpenAI, etc.)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332720" y="5029200"/>
            <a:ext cx="1371600" cy="82296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Redis</a:t>
            </a:r>
            <a:br/>
            <a:r>
              <a:t>Streams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377440" y="2377440"/>
            <a:ext cx="2651760" cy="54864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943600" y="2377440"/>
            <a:ext cx="91440" cy="54864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6858000" y="2377440"/>
            <a:ext cx="2834640" cy="54864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280160" y="4297680"/>
            <a:ext cx="0" cy="73152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3291840" y="4297680"/>
            <a:ext cx="0" cy="73152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303520" y="4297680"/>
            <a:ext cx="0" cy="73152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315200" y="4297680"/>
            <a:ext cx="0" cy="73152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9326880" y="4297680"/>
            <a:ext cx="0" cy="73152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0972800" y="4297680"/>
            <a:ext cx="0" cy="73152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BFF"/>
                </a:solidFill>
                <a:latin typeface="Segoe UI"/>
              </a:defRPr>
            </a:pPr>
            <a:r>
              <a:t>C2 — Container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B0"/>
                </a:solidFill>
                <a:latin typeface="Segoe UI"/>
              </a:defRPr>
            </a:pPr>
            <a:r>
              <a:t>7 microservices + React frontend + 4 backing stores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2286000" cy="640080"/>
          </a:xfrm>
          <a:prstGeom prst="round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React Frontend</a:t>
            </a:r>
            <a:br/>
            <a:r>
              <a:t>Port 3000 | Vite + MUI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188720"/>
            <a:ext cx="2286000" cy="640080"/>
          </a:xfrm>
          <a:prstGeom prst="roundRect">
            <a:avLst/>
          </a:prstGeom>
          <a:solidFill>
            <a:srgbClr val="0157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API Gateway</a:t>
            </a:r>
            <a:br/>
            <a:r>
              <a:t>Port 4000 | Express + JWT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377440"/>
            <a:ext cx="1828800" cy="9144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Orchestrator</a:t>
            </a:r>
            <a:br/>
            <a:r>
              <a:t>Port 8000</a:t>
            </a:r>
            <a:br/>
            <a:r>
              <a:t>FastAPI</a:t>
            </a:r>
            <a:br/>
            <a:r>
              <a:t>Pipeline + Graph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2377440"/>
            <a:ext cx="1828800" cy="914400"/>
          </a:xfrm>
          <a:prstGeom prst="roundRect">
            <a:avLst/>
          </a:prstGeom>
          <a:solidFill>
            <a:srgbClr val="286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Agent-Mgmt</a:t>
            </a:r>
            <a:br/>
            <a:r>
              <a:t>Port 4001</a:t>
            </a:r>
            <a:br/>
            <a:r>
              <a:t>Express</a:t>
            </a:r>
            <a:br/>
            <a:r>
              <a:t>CRUD + Execution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2377440"/>
            <a:ext cx="1828800" cy="914400"/>
          </a:xfrm>
          <a:prstGeom prst="round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Memory</a:t>
            </a:r>
            <a:br/>
            <a:r>
              <a:t>Port 8001</a:t>
            </a:r>
            <a:br/>
            <a:r>
              <a:t>FastAPI</a:t>
            </a:r>
            <a:br/>
            <a:r>
              <a:t>4-Tier Memory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377440"/>
            <a:ext cx="1828800" cy="91440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RAG</a:t>
            </a:r>
            <a:br/>
            <a:r>
              <a:t>Port 8002</a:t>
            </a:r>
            <a:br/>
            <a:r>
              <a:t>FastAPI</a:t>
            </a:r>
            <a:br/>
            <a:r>
              <a:t>Chunk + Embed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2377440"/>
            <a:ext cx="1828800" cy="914400"/>
          </a:xfrm>
          <a:prstGeom prst="round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Scoring</a:t>
            </a:r>
            <a:br/>
            <a:r>
              <a:t>Port 8003</a:t>
            </a:r>
            <a:br/>
            <a:r>
              <a:t>FastAPI</a:t>
            </a:r>
            <a:br/>
            <a:r>
              <a:t>RL + Bands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32720" y="2377440"/>
            <a:ext cx="1554480" cy="91440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Meta-Assembly</a:t>
            </a:r>
            <a:br/>
            <a:r>
              <a:t>Port 8004</a:t>
            </a:r>
            <a:br/>
            <a:r>
              <a:t>FastAPI</a:t>
            </a:r>
            <a:br/>
            <a:r>
              <a:t>Gap Detection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3931920"/>
            <a:ext cx="2286000" cy="731520"/>
          </a:xfrm>
          <a:prstGeom prst="roundRect">
            <a:avLst/>
          </a:prstGeom>
          <a:solidFill>
            <a:srgbClr val="33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MySQL 8.0</a:t>
            </a:r>
            <a:br/>
            <a:r>
              <a:t>Port 3306</a:t>
            </a:r>
            <a:br/>
            <a:r>
              <a:t>23 tables | Host-installed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40" y="3931920"/>
            <a:ext cx="2286000" cy="731520"/>
          </a:xfrm>
          <a:prstGeom prst="roundRect">
            <a:avLst/>
          </a:prstGeom>
          <a:solidFill>
            <a:srgbClr val="33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Neo4j AuraDB</a:t>
            </a:r>
            <a:br/>
            <a:r>
              <a:t>Cloud (TLS)</a:t>
            </a:r>
            <a:br/>
            <a:r>
              <a:t>Graph: Tasks, Agents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4960" y="3931920"/>
            <a:ext cx="2286000" cy="731520"/>
          </a:xfrm>
          <a:prstGeom prst="roundRect">
            <a:avLst/>
          </a:prstGeom>
          <a:solidFill>
            <a:srgbClr val="33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Qdrant</a:t>
            </a:r>
            <a:br/>
            <a:r>
              <a:t>Port 6333</a:t>
            </a:r>
            <a:br/>
            <a:r>
              <a:t>Vector Store (RAG)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3931920"/>
            <a:ext cx="2286000" cy="731520"/>
          </a:xfrm>
          <a:prstGeom prst="roundRect">
            <a:avLst/>
          </a:prstGeom>
          <a:solidFill>
            <a:srgbClr val="33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Redis 7</a:t>
            </a:r>
            <a:br/>
            <a:r>
              <a:t>Port 6379</a:t>
            </a:r>
            <a:br/>
            <a:r>
              <a:t>7 Streams + Rate Limit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93776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Data Flow:</a:t>
            </a:r>
            <a:br/>
            <a:r>
              <a:t>User → Frontend → Gateway (auth + rate-limit) → Orchestrator → Pipeline</a:t>
            </a:r>
            <a:br/>
            <a:r>
              <a:t>Pipeline: Decompose → Negotiate (agents bid) → Execute (tool-use loop + sub-agents) → Score → Aggregate → Learn</a:t>
            </a:r>
            <a:br/>
            <a:r>
              <a:t>Streams: memory:writes (103) | scoring:feedback (30) | events:telemetry (210) | events:tool_health (41) | events:documents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BFF"/>
                </a:solidFill>
                <a:latin typeface="Segoe UI"/>
              </a:defRPr>
            </a:pPr>
            <a:r>
              <a:t>C3 — Orchestrator Component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B0"/>
                </a:solidFill>
                <a:latin typeface="Segoe UI"/>
              </a:defRPr>
            </a:pPr>
            <a:r>
              <a:t>The brain of the system: 10-step pipeline with recursive sub-agent spawning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1828800" cy="457200"/>
          </a:xfrm>
          <a:prstGeom prst="roundRect">
            <a:avLst/>
          </a:prstGeom>
          <a:solidFill>
            <a:srgbClr val="455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Step 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737360"/>
            <a:ext cx="1828800" cy="54864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Load Team</a:t>
            </a:r>
            <a:br/>
            <a:r>
              <a:t>Hierarchy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94560" y="1417320"/>
            <a:ext cx="137160" cy="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86000" y="1188720"/>
            <a:ext cx="1828800" cy="4572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Steps 1-2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1737360"/>
            <a:ext cx="1828800" cy="54864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LLM Task</a:t>
            </a:r>
            <a:br/>
            <a:r>
              <a:t>Decomposition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0" y="1417320"/>
            <a:ext cx="137160" cy="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206240" y="1188720"/>
            <a:ext cx="1828800" cy="457200"/>
          </a:xfrm>
          <a:prstGeom prst="round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Step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737360"/>
            <a:ext cx="1828800" cy="54864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Capability</a:t>
            </a:r>
            <a:br/>
            <a:r>
              <a:t>Negotiation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35040" y="1417320"/>
            <a:ext cx="137160" cy="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126479" y="1188720"/>
            <a:ext cx="1828800" cy="45720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Steps 4-7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79" y="1737360"/>
            <a:ext cx="1828800" cy="54864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Agentic</a:t>
            </a:r>
            <a:br/>
            <a:r>
              <a:t>Tool Loop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955279" y="1417320"/>
            <a:ext cx="137161" cy="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046719" y="1188720"/>
            <a:ext cx="1828800" cy="457200"/>
          </a:xfrm>
          <a:prstGeom prst="round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Step 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1737360"/>
            <a:ext cx="1828800" cy="54864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Result</a:t>
            </a:r>
            <a:br/>
            <a:r>
              <a:t>Aggregation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875519" y="1417320"/>
            <a:ext cx="137161" cy="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966959" y="1188720"/>
            <a:ext cx="18288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Step 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66959" y="1737360"/>
            <a:ext cx="1828800" cy="54864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Memory +</a:t>
            </a:r>
            <a:br/>
            <a:r>
              <a:t>RL Learning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2743200"/>
            <a:ext cx="2743200" cy="13716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2743200"/>
            <a:ext cx="54864" cy="1371600"/>
          </a:xfrm>
          <a:prstGeom prst="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8346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00"/>
                </a:solidFill>
                <a:latin typeface="Segoe UI"/>
              </a:defRPr>
            </a:pPr>
            <a:r>
              <a:t>Capability Negotiation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15468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- Broadcast bid to all agents</a:t>
            </a:r>
            <a:br/>
            <a:r>
              <a:t>- LLM self-assessment per agent</a:t>
            </a:r>
            <a:br/>
            <a:r>
              <a:t>- Rank: 60% conf + 25% mem + 15% lat</a:t>
            </a:r>
            <a:br/>
            <a:r>
              <a:t>- Assign winner + fallback chain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40" y="2743200"/>
            <a:ext cx="2743200" cy="13716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91840" y="2743200"/>
            <a:ext cx="54864" cy="13716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0" y="28346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  <a:latin typeface="Segoe UI"/>
              </a:defRPr>
            </a:pPr>
            <a:r>
              <a:t>Agentic Tool-Use Loop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315468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- Max 5 iterations per agent</a:t>
            </a:r>
            <a:br/>
            <a:r>
              <a:t>- Tools: DB, Graph, API, Python, GitHub</a:t>
            </a:r>
            <a:br/>
            <a:r>
              <a:t>- spawn_sub_agent for delegation</a:t>
            </a:r>
            <a:br/>
            <a:r>
              <a:t>- Auto-continue truncated responses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2743200"/>
            <a:ext cx="2743200" cy="13716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2743200"/>
            <a:ext cx="54864" cy="13716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28346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FF"/>
                </a:solidFill>
                <a:latin typeface="Segoe UI"/>
              </a:defRPr>
            </a:pPr>
            <a:r>
              <a:t>Sub-Agent Spawning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315468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- Recursive (max depth 3)</a:t>
            </a:r>
            <a:br/>
            <a:r>
              <a:t>- Own context, tools, memory</a:t>
            </a:r>
            <a:br/>
            <a:r>
              <a:t>- Negotiated from team specialists</a:t>
            </a:r>
            <a:br/>
            <a:r>
              <a:t>- Result → parent as tool_result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0" y="2743200"/>
            <a:ext cx="2743200" cy="13716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4000" y="2743200"/>
            <a:ext cx="54864" cy="137160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28346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44336"/>
                </a:solidFill>
                <a:latin typeface="Segoe UI"/>
              </a:defRPr>
            </a:pPr>
            <a:r>
              <a:t>Scoring &amp; Correction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315468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- S = w1·R + w2·A + w3·P + w4·L + ...</a:t>
            </a:r>
            <a:br/>
            <a:r>
              <a:t>- Adaptive band: mean ± std × k</a:t>
            </a:r>
            <a:br/>
            <a:r>
              <a:t>- Below band → fallback agent</a:t>
            </a:r>
            <a:br/>
            <a:r>
              <a:t>- RL weight updates (Q-learning)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4389120"/>
            <a:ext cx="5486400" cy="18288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4389120"/>
            <a:ext cx="54864" cy="18288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4480559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695C"/>
                </a:solidFill>
                <a:latin typeface="Segoe UI"/>
              </a:defRPr>
            </a:pPr>
            <a:r>
              <a:t>Neo4j Execution Graph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800600"/>
            <a:ext cx="5212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TaskGraph → TaskNode (ROOT/SUBTASK/SUB_AGENT)</a:t>
            </a:r>
            <a:br/>
            <a:r>
              <a:t>  └─ SPAWNED_BY → parent TaskNode</a:t>
            </a:r>
            <a:br/>
            <a:r>
              <a:t>  └─ PRODUCED_EVENT → ExecutionEvent (BID_WON, SCORE, etc.)</a:t>
            </a:r>
            <a:br/>
            <a:r>
              <a:t>  └─ HAS_INTERACTION → AgentInteraction</a:t>
            </a:r>
            <a:br/>
            <a:r>
              <a:t>Agent → MEMBER_OF → Team</a:t>
            </a:r>
            <a:br/>
            <a:br/>
            <a:r>
              <a:t>Every execution creates a live, queryable graph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35040" y="4389120"/>
            <a:ext cx="5486400" cy="18288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35040" y="4389120"/>
            <a:ext cx="54864" cy="1828800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17920" y="4480559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B47BC"/>
                </a:solidFill>
                <a:latin typeface="Segoe UI"/>
              </a:defRPr>
            </a:pPr>
            <a:r>
              <a:t>Memory Architecture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4800600"/>
            <a:ext cx="5212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SHORT_TERM:  Redis hash, TTL-based, session context</a:t>
            </a:r>
            <a:br/>
            <a:r>
              <a:t>LONG_TERM:   MySQL + FAISS, persistent knowledge</a:t>
            </a:r>
            <a:br/>
            <a:r>
              <a:t>REASONING:   MySQL JSON, distilled patterns</a:t>
            </a:r>
            <a:br/>
            <a:r>
              <a:t>EPISODIC:    MySQL + FAISS, full execution episodes</a:t>
            </a:r>
            <a:br/>
            <a:br/>
            <a:r>
              <a:t>All 4 tiers assembled into system prompt before every</a:t>
            </a:r>
            <a:br/>
            <a:r>
              <a:t>agent execution. Agents learn from past conversations.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BFF"/>
                </a:solidFill>
                <a:latin typeface="Segoe UI"/>
              </a:defRPr>
            </a:pPr>
            <a:r>
              <a:t>C4 — Code-Level: Pipeline Execution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2103120" cy="5486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User Message</a:t>
            </a:r>
            <a:br/>
            <a:r>
              <a:t>(natural language)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60320" y="1371600"/>
            <a:ext cx="274320" cy="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834640" y="1097280"/>
            <a:ext cx="2103120" cy="54864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LLM Decompose</a:t>
            </a:r>
            <a:br/>
            <a:r>
              <a:t>→ TaskGraph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937760" y="1371600"/>
            <a:ext cx="274320" cy="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212080" y="1097280"/>
            <a:ext cx="2103120" cy="548640"/>
          </a:xfrm>
          <a:prstGeom prst="round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Negotiate</a:t>
            </a:r>
            <a:br/>
            <a:r>
              <a:t>(parallel bids)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0" y="1371600"/>
            <a:ext cx="274320" cy="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589520" y="1097280"/>
            <a:ext cx="2103120" cy="548640"/>
          </a:xfrm>
          <a:prstGeom prst="roundRect">
            <a:avLst/>
          </a:prstGeom>
          <a:solidFill>
            <a:srgbClr val="286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Winner Agent</a:t>
            </a:r>
            <a:br/>
            <a:r>
              <a:t>+ Fallback Chain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41080" y="1645920"/>
            <a:ext cx="0" cy="36576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57200" y="2011680"/>
            <a:ext cx="10972800" cy="4114800"/>
          </a:xfrm>
          <a:prstGeom prst="roundRect">
            <a:avLst/>
          </a:prstGeom>
          <a:solidFill>
            <a:srgbClr val="252540"/>
          </a:solidFill>
          <a:ln w="12700">
            <a:solidFill>
              <a:srgbClr val="00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BFF"/>
                </a:solidFill>
                <a:latin typeface="Segoe UI"/>
              </a:defRPr>
            </a:pPr>
            <a:r>
              <a:t>AGENTIC TOOL-USE LOOP (max 5 iterations)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560320"/>
            <a:ext cx="2011680" cy="640080"/>
          </a:xfrm>
          <a:prstGeom prst="round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Assemble Prompt</a:t>
            </a:r>
            <a:br/>
            <a:r>
              <a:t>Memory (4-tier)</a:t>
            </a:r>
            <a:br/>
            <a:r>
              <a:t>+ RAG docs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3200" y="2880360"/>
            <a:ext cx="274320" cy="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017520" y="2560320"/>
            <a:ext cx="2011680" cy="64008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LLM Call</a:t>
            </a:r>
            <a:br/>
            <a:r>
              <a:t>(with tools as</a:t>
            </a:r>
            <a:br/>
            <a:r>
              <a:t>function defs)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29200" y="2880360"/>
            <a:ext cx="274320" cy="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303520" y="2560320"/>
            <a:ext cx="1828800" cy="640080"/>
          </a:xfrm>
          <a:prstGeom prst="round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LLM Response</a:t>
            </a:r>
            <a:br/>
            <a:r>
              <a:t>Text or</a:t>
            </a:r>
            <a:br/>
            <a:r>
              <a:t>Tool Calls?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132320" y="2697480"/>
            <a:ext cx="365759" cy="0"/>
          </a:xfrm>
          <a:prstGeom prst="line">
            <a:avLst/>
          </a:prstGeom>
          <a:ln w="19050">
            <a:solidFill>
              <a:srgbClr val="00C8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498079" y="2560320"/>
            <a:ext cx="1645920" cy="64008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Text Response</a:t>
            </a:r>
            <a:br/>
            <a:r>
              <a:t>→ Done</a:t>
            </a:r>
            <a:br/>
            <a:r>
              <a:t>→ Score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44000" y="2880360"/>
            <a:ext cx="274320" cy="0"/>
          </a:xfrm>
          <a:prstGeom prst="line">
            <a:avLst/>
          </a:prstGeom>
          <a:ln w="1905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418320" y="2560320"/>
            <a:ext cx="1828800" cy="64008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Score &amp; Band</a:t>
            </a:r>
            <a:br/>
            <a:r>
              <a:t>Check</a:t>
            </a:r>
            <a:br/>
            <a:r>
              <a:t>→ proceed/fix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217920" y="3200400"/>
            <a:ext cx="0" cy="365760"/>
          </a:xfrm>
          <a:prstGeom prst="line">
            <a:avLst/>
          </a:prstGeom>
          <a:ln w="19050">
            <a:solidFill>
              <a:srgbClr val="FF9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669280" y="3246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9F00"/>
                </a:solidFill>
                <a:latin typeface="Segoe UI"/>
              </a:defRPr>
            </a:pPr>
            <a:r>
              <a:t>tool calls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657600"/>
            <a:ext cx="1463040" cy="640080"/>
          </a:xfrm>
          <a:prstGeom prst="roundRect">
            <a:avLst/>
          </a:prstGeom>
          <a:solidFill>
            <a:srgbClr val="33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DATABASE</a:t>
            </a:r>
            <a:br/>
            <a:r>
              <a:t>MySQL query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77440" y="3657600"/>
            <a:ext cx="1463040" cy="640080"/>
          </a:xfrm>
          <a:prstGeom prst="roundRect">
            <a:avLst/>
          </a:prstGeom>
          <a:solidFill>
            <a:srgbClr val="33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GRAPH</a:t>
            </a:r>
            <a:br/>
            <a:r>
              <a:t>Neo4j Cypher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23360" y="3657600"/>
            <a:ext cx="1463040" cy="640080"/>
          </a:xfrm>
          <a:prstGeom prst="roundRect">
            <a:avLst/>
          </a:prstGeom>
          <a:solidFill>
            <a:srgbClr val="33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API / GITHUB</a:t>
            </a:r>
            <a:br/>
            <a:r>
              <a:t>HTTP calls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3657600"/>
            <a:ext cx="1463040" cy="640080"/>
          </a:xfrm>
          <a:prstGeom prst="roundRect">
            <a:avLst/>
          </a:prstGeom>
          <a:solidFill>
            <a:srgbClr val="33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PYTHON</a:t>
            </a:r>
            <a:br/>
            <a:r>
              <a:t>Sandbox exec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0" y="3657600"/>
            <a:ext cx="2011680" cy="640080"/>
          </a:xfrm>
          <a:prstGeom prst="roundRect">
            <a:avLst/>
          </a:prstGeom>
          <a:solidFill>
            <a:srgbClr val="FF7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spawn_sub_agent</a:t>
            </a:r>
            <a:br/>
            <a:r>
              <a:t>→ Negotiate</a:t>
            </a:r>
            <a:br/>
            <a:r>
              <a:t>→ Recurse (depth+1)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321040" y="4297680"/>
            <a:ext cx="0" cy="365760"/>
          </a:xfrm>
          <a:prstGeom prst="line">
            <a:avLst/>
          </a:prstGeom>
          <a:ln w="19050">
            <a:solidFill>
              <a:srgbClr val="FF70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315200" y="4663440"/>
            <a:ext cx="2011680" cy="640080"/>
          </a:xfrm>
          <a:prstGeom prst="round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Sub-Agent Loop</a:t>
            </a:r>
            <a:br/>
            <a:r>
              <a:t>(own tools+memory)</a:t>
            </a:r>
            <a:br/>
            <a:r>
              <a:t>max depth 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01200" y="3657600"/>
            <a:ext cx="1645920" cy="640080"/>
          </a:xfrm>
          <a:prstGeom prst="roundRect">
            <a:avLst/>
          </a:prstGeom>
          <a:solidFill>
            <a:srgbClr val="286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tool_result</a:t>
            </a:r>
            <a:br/>
            <a:r>
              <a:t>→ back to LLM</a:t>
            </a:r>
            <a:br/>
            <a:r>
              <a:t>→ next iteration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43200" y="5303520"/>
            <a:ext cx="2743200" cy="640080"/>
          </a:xfrm>
          <a:prstGeom prst="round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Memory Write</a:t>
            </a:r>
            <a:br/>
            <a:r>
              <a:t>(episodic + Redis stream)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60720" y="5303520"/>
            <a:ext cx="2743200" cy="640080"/>
          </a:xfrm>
          <a:prstGeom prst="round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RL Feedback</a:t>
            </a:r>
            <a:br/>
            <a:r>
              <a:t>(scoring:feedback stream)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78240" y="5303520"/>
            <a:ext cx="2743200" cy="64008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Final Response</a:t>
            </a:r>
            <a:br/>
            <a:r>
              <a:t>→ Gateway → User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BFF"/>
                </a:solidFill>
                <a:latin typeface="Segoe UI"/>
              </a:defRPr>
            </a:pPr>
            <a:r>
              <a:t>High-Value Use Cases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3566160" cy="219456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4864" cy="219456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  <a:latin typeface="Segoe UI"/>
              </a:defRPr>
            </a:pPr>
            <a:r>
              <a:t>Portfolio Risk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39"/>
            <a:ext cx="329184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"How does our loan portfolio risk compare</a:t>
            </a:r>
            <a:br/>
            <a:r>
              <a:t>to the MBA industry forecast?"</a:t>
            </a:r>
            <a:br/>
            <a:br/>
            <a:r>
              <a:t>Sources: Graph + Document (RAG)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280160"/>
            <a:ext cx="3566160" cy="219456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97680" y="1280160"/>
            <a:ext cx="54864" cy="219456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71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FF"/>
                </a:solidFill>
                <a:latin typeface="Segoe UI"/>
              </a:defRPr>
            </a:pPr>
            <a:r>
              <a:t>Compliance Cross-Check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691639"/>
            <a:ext cx="329184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"Which loans in CA and NY need enhanced</a:t>
            </a:r>
            <a:br/>
            <a:r>
              <a:t>TRID/TILA review per our policy memo?"</a:t>
            </a:r>
            <a:br/>
            <a:br/>
            <a:r>
              <a:t>Sources: Graph + Document + MySQL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280160"/>
            <a:ext cx="3566160" cy="219456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38160" y="1280160"/>
            <a:ext cx="54864" cy="2194560"/>
          </a:xfrm>
          <a:prstGeom prst="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371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00"/>
                </a:solidFill>
                <a:latin typeface="Segoe UI"/>
              </a:defRPr>
            </a:pPr>
            <a:r>
              <a:t>Stress 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691639"/>
            <a:ext cx="329184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"Run a stress test on HELOC portfolio</a:t>
            </a:r>
            <a:br/>
            <a:r>
              <a:t>assuming rates increase 200bps"</a:t>
            </a:r>
            <a:br/>
            <a:br/>
            <a:r>
              <a:t>Sources: Graph + Python + Policies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79"/>
            <a:ext cx="3566160" cy="219456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840479"/>
            <a:ext cx="54864" cy="2194560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319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B47BC"/>
                </a:solidFill>
                <a:latin typeface="Segoe UI"/>
              </a:defRPr>
            </a:pPr>
            <a:r>
              <a:t>Market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251959"/>
            <a:ext cx="329184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"Find open-source amortization tools and</a:t>
            </a:r>
            <a:br/>
            <a:r>
              <a:t>compare their approaches to our models"</a:t>
            </a:r>
            <a:br/>
            <a:br/>
            <a:r>
              <a:t>Sources: GitHub + Python + Database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3840479"/>
            <a:ext cx="3566160" cy="219456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97680" y="3840479"/>
            <a:ext cx="54864" cy="2194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39319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695C"/>
                </a:solidFill>
                <a:latin typeface="Segoe UI"/>
              </a:defRPr>
            </a:pPr>
            <a:r>
              <a:t>Borrower 360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251959"/>
            <a:ext cx="329184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"Give me everything about LOAN001 —</a:t>
            </a:r>
            <a:br/>
            <a:r>
              <a:t>borrower, property, payments, compliance"</a:t>
            </a:r>
            <a:br/>
            <a:br/>
            <a:r>
              <a:t>Sources: Neo4j Graph (single query)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3840479"/>
            <a:ext cx="3566160" cy="219456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38160" y="3840479"/>
            <a:ext cx="54864" cy="219456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39319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44336"/>
                </a:solidFill>
                <a:latin typeface="Segoe UI"/>
              </a:defRPr>
            </a:pPr>
            <a:r>
              <a:t>Cross-Domain Report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251959"/>
            <a:ext cx="329184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"Top film revenues vs mortgage portfolio</a:t>
            </a:r>
            <a:br/>
            <a:r>
              <a:t>performance with Python projections"</a:t>
            </a:r>
            <a:br/>
            <a:br/>
            <a:r>
              <a:t>Sources: MySQL + Graph + Python + RAG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BFF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657600" cy="22860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4864" cy="22860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FF"/>
                </a:solidFill>
                <a:latin typeface="Segoe UI"/>
              </a:defRPr>
            </a:pPr>
            <a:r>
              <a:t>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3383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React 18 + TypeScript</a:t>
            </a:r>
            <a:br/>
            <a:r>
              <a:t>Vite (dev server, port 3000)</a:t>
            </a:r>
            <a:br/>
            <a:r>
              <a:t>Material UI 5</a:t>
            </a:r>
            <a:br/>
            <a:r>
              <a:t>D3.js (sequence diagrams, force graphs)</a:t>
            </a:r>
            <a:br/>
            <a:r>
              <a:t>React Query (data fetching)</a:t>
            </a:r>
            <a:br/>
            <a:r>
              <a:t>Zustand (state management)</a:t>
            </a:r>
            <a:br/>
            <a:r>
              <a:t>15 pages: Chat, Agent Studio, Monitors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188720"/>
            <a:ext cx="3657600" cy="22860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97680" y="1188720"/>
            <a:ext cx="54864" cy="22860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2801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  <a:latin typeface="Segoe UI"/>
              </a:defRPr>
            </a:pPr>
            <a:r>
              <a:t>Backend Services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600200"/>
            <a:ext cx="3383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2 Node.js (Express 5 + TypeScript)</a:t>
            </a:r>
            <a:br/>
            <a:r>
              <a:t>  - Gateway (auth, routing, WebSocket)</a:t>
            </a:r>
            <a:br/>
            <a:r>
              <a:t>  - Agent-Mgmt (CRUD, tool execution)</a:t>
            </a:r>
            <a:br/>
            <a:br/>
            <a:r>
              <a:t>5 Python (FastAPI 0.109)</a:t>
            </a:r>
            <a:br/>
            <a:r>
              <a:t>  - Orchestrator, Memory, RAG,</a:t>
            </a:r>
            <a:br/>
            <a:r>
              <a:t>    Scoring, Meta-Assembly</a:t>
            </a:r>
            <a:br/>
            <a:r>
              <a:t>  - All Dockerized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657600" cy="22860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38160" y="1188720"/>
            <a:ext cx="54864" cy="2286000"/>
          </a:xfrm>
          <a:prstGeom prst="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2801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00"/>
                </a:solidFill>
                <a:latin typeface="Segoe UI"/>
              </a:defRPr>
            </a:pPr>
            <a:r>
              <a:t>Data Stores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600200"/>
            <a:ext cx="3383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MySQL 8.0 — 23 tables</a:t>
            </a:r>
            <a:br/>
            <a:r>
              <a:t>  Agents, tools, scores, memory, docs</a:t>
            </a:r>
            <a:br/>
            <a:br/>
            <a:r>
              <a:t>Neo4j AuraDB — Cloud graph</a:t>
            </a:r>
            <a:br/>
            <a:r>
              <a:t>  Tasks, execution events, interactions</a:t>
            </a:r>
            <a:br/>
            <a:br/>
            <a:r>
              <a:t>Qdrant — Vector store (RAG)</a:t>
            </a:r>
            <a:br/>
            <a:r>
              <a:t>Redis 7 — Streams + rate limiting</a:t>
            </a:r>
            <a:br/>
            <a:r>
              <a:t>FAISS — Local vector backup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80"/>
            <a:ext cx="3657600" cy="22860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54864" cy="2286000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B47BC"/>
                </a:solidFill>
                <a:latin typeface="Segoe UI"/>
              </a:defRPr>
            </a:pPr>
            <a:r>
              <a:t>AI &amp; 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251960"/>
            <a:ext cx="3383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LLM: OpenAI GPT-4o / GPT-4o-mini</a:t>
            </a:r>
            <a:br/>
            <a:r>
              <a:t>  (pluggable: Anthropic, Google, Ollama)</a:t>
            </a:r>
            <a:br/>
            <a:br/>
            <a:r>
              <a:t>Embeddings: sentence-transformers</a:t>
            </a:r>
            <a:br/>
            <a:r>
              <a:t>  all-mpnet-base-v2 (768-dim)</a:t>
            </a:r>
            <a:br/>
            <a:br/>
            <a:r>
              <a:t>Re-ranking: cross-encoder/ms-marco</a:t>
            </a:r>
            <a:br/>
            <a:br/>
            <a:r>
              <a:t>RL: Q-learning weight updates</a:t>
            </a:r>
            <a:br/>
            <a:r>
              <a:t>Scoring: 6-factor weighted formula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3840480"/>
            <a:ext cx="3657600" cy="22860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97680" y="3840480"/>
            <a:ext cx="54864" cy="22860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39319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695C"/>
                </a:solidFill>
                <a:latin typeface="Segoe UI"/>
              </a:defRPr>
            </a:pPr>
            <a:r>
              <a:t>Document Processing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251960"/>
            <a:ext cx="3383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PDF: PyPDF2 (text extraction)</a:t>
            </a:r>
            <a:br/>
            <a:r>
              <a:t>DOCX: python-docx (paragraphs + tables)</a:t>
            </a:r>
            <a:br/>
            <a:r>
              <a:t>XLSX: openpyxl (multi-sheet)</a:t>
            </a:r>
            <a:br/>
            <a:r>
              <a:t>HTML: BeautifulSoup4</a:t>
            </a:r>
            <a:br/>
            <a:r>
              <a:t>CSV, JSON, Markdown, TXT</a:t>
            </a:r>
            <a:br/>
            <a:br/>
            <a:r>
              <a:t>Chunking: fixed / sentence / paragraph</a:t>
            </a:r>
            <a:br/>
            <a:r>
              <a:t>Configurable chunk size + overlap</a:t>
            </a:r>
            <a:br/>
            <a:r>
              <a:t>Selectable embedding model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3840480"/>
            <a:ext cx="3657600" cy="22860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38160" y="3840480"/>
            <a:ext cx="54864" cy="2286000"/>
          </a:xfrm>
          <a:prstGeom prst="rect">
            <a:avLst/>
          </a:prstGeom>
          <a:solidFill>
            <a:srgbClr val="455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39319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55A64"/>
                </a:solidFill>
                <a:latin typeface="Segoe UI"/>
              </a:defRPr>
            </a:pPr>
            <a:r>
              <a:t>Infrastructure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251960"/>
            <a:ext cx="3383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Docker Compose — 7 containers</a:t>
            </a:r>
            <a:br/>
            <a:r>
              <a:t>pmos.sh — service manager</a:t>
            </a:r>
            <a:br/>
            <a:br/>
            <a:r>
              <a:t>Observability:</a:t>
            </a:r>
            <a:br/>
            <a:r>
              <a:t>  Structured JSON logs (trace_id)</a:t>
            </a:r>
            <a:br/>
            <a:r>
              <a:t>  Prometheus metrics on every service</a:t>
            </a:r>
            <a:br/>
            <a:r>
              <a:t>  OpenTelemetry spans</a:t>
            </a:r>
            <a:br/>
            <a:br/>
            <a:r>
              <a:t>Circuit breakers + retry (tenacity)</a:t>
            </a:r>
            <a:br/>
            <a:r>
              <a:t>Redis Streams for async events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7BFF"/>
                </a:solidFill>
                <a:latin typeface="Segoe UI"/>
              </a:defRPr>
            </a:pPr>
            <a:r>
              <a:t>Business Domain Data — Home Lending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0B0B0"/>
                </a:solidFill>
                <a:latin typeface="Segoe UI"/>
              </a:defRPr>
            </a:pPr>
            <a:r>
              <a:t>Six MySQL schemas modeling the full customer → origination → servicing journey, queryable end-to-end via registered DATABASE tools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554480"/>
            <a:ext cx="2286000" cy="100584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Chase My Home</a:t>
            </a:r>
            <a:br/>
            <a:br/>
            <a:r>
              <a:t>Explore / Buy / Manage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606040" y="2057400"/>
            <a:ext cx="9144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697480" y="1554480"/>
            <a:ext cx="2286000" cy="1005840"/>
          </a:xfrm>
          <a:prstGeom prst="roundRect">
            <a:avLst/>
          </a:prstGeom>
          <a:solidFill>
            <a:srgbClr val="4D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Marketing</a:t>
            </a:r>
            <a:br/>
            <a:br/>
            <a:r>
              <a:t>Campaigns, leads, attribution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983480" y="2057400"/>
            <a:ext cx="9144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4920" y="1554480"/>
            <a:ext cx="2286000" cy="1005840"/>
          </a:xfrm>
          <a:prstGeom prst="roundRect">
            <a:avLst/>
          </a:prstGeom>
          <a:solidFill>
            <a:srgbClr val="4D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Sales</a:t>
            </a:r>
            <a:br/>
            <a:br/>
            <a:r>
              <a:t>Officers, pipeline, commissions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60920" y="2057400"/>
            <a:ext cx="9144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52360" y="1554480"/>
            <a:ext cx="2286000" cy="1005840"/>
          </a:xfrm>
          <a:prstGeom prst="round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Origination</a:t>
            </a:r>
            <a:br/>
            <a:br/>
            <a:r>
              <a:t>Consumer + Correspondent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738360" y="2057400"/>
            <a:ext cx="9144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829800" y="1554480"/>
            <a:ext cx="2286000" cy="1005840"/>
          </a:xfrm>
          <a:prstGeom prst="round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Servicing</a:t>
            </a:r>
            <a:br/>
            <a:br/>
            <a:r>
              <a:t>Loans, defaults, FC, REDS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27 tables • 230 seed rows • 6 DATABASE tools registered in pmos.tools • cross-schema referential integrity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657600"/>
            <a:ext cx="3657600" cy="265176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54864" cy="2651760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749039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B47BC"/>
                </a:solidFill>
                <a:latin typeface="Segoe UI"/>
              </a:defRPr>
            </a:pPr>
            <a:r>
              <a:t>LIVE EXAMPLE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069080"/>
            <a:ext cx="3383280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Q: Which loans are in DEFAULT or FORECLOSURE?</a:t>
            </a:r>
            <a:br/>
            <a:br/>
            <a:r>
              <a:t>• L0007 Northern Light — $790K — Annaly REIT</a:t>
            </a:r>
            <a:br/>
            <a:r>
              <a:t>• L0009 Atlas — $340K — AGNC REIT</a:t>
            </a:r>
            <a:br/>
            <a:br/>
            <a:r>
              <a:t>Agent used servicing_db tool, returned deterministic SQL answer in 21s.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3657600"/>
            <a:ext cx="3657600" cy="265176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3657600"/>
            <a:ext cx="54864" cy="2651760"/>
          </a:xfrm>
          <a:prstGeom prst="rect">
            <a:avLst/>
          </a:prstGeom>
          <a:solidFill>
            <a:srgbClr val="4D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3749039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DA6FF"/>
                </a:solidFill>
                <a:latin typeface="Segoe UI"/>
              </a:defRPr>
            </a:pPr>
            <a:r>
              <a:t>CROSS-SYSTEM QUERY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069080"/>
            <a:ext cx="3383280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Neo4j TaskGraphs joined with MySQL home-lending data.</a:t>
            </a:r>
            <a:br/>
            <a:br/>
            <a:r>
              <a:t>5 illustrative questions answered by scripts/cross_system_query.py:</a:t>
            </a:r>
            <a:br/>
            <a:r>
              <a:t>risk lifecycle, marketing funnel, investor distress exposure, agent routing.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3657600"/>
            <a:ext cx="3657600" cy="265176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8160" y="3657600"/>
            <a:ext cx="54864" cy="265176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3749039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  <a:latin typeface="Segoe UI"/>
              </a:defRPr>
            </a:pPr>
            <a:r>
              <a:t>7 LAWS ENFORCED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069080"/>
            <a:ext cx="3383280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• LLM decomposes every request</a:t>
            </a:r>
            <a:br/>
            <a:r>
              <a:t>• Scoring bands adapt via RL</a:t>
            </a:r>
            <a:br/>
            <a:r>
              <a:t>• Prompts assembled at runtime</a:t>
            </a:r>
            <a:br/>
            <a:r>
              <a:t>• Every tool defined in MySQL</a:t>
            </a:r>
            <a:br/>
            <a:r>
              <a:t>• trace_id on every path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7BFF"/>
                </a:solidFill>
                <a:latin typeface="Segoe UI"/>
              </a:defRPr>
            </a:pPr>
            <a:r>
              <a:t>Model Governance — Inference Traceability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0B0B0"/>
                </a:solidFill>
                <a:latin typeface="Segoe UI"/>
              </a:defRPr>
            </a:pPr>
            <a:r>
              <a:t>For any answer the system produces, show the full layered reasoning chain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2743200" cy="36576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USER MESSAGE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1508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B0"/>
                </a:solidFill>
                <a:latin typeface="Segoe UI"/>
              </a:defRPr>
            </a:pPr>
            <a:r>
              <a:t>→ tracked in MySQL + Neo4j, joined on trace_id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965960"/>
            <a:ext cx="2743200" cy="365760"/>
          </a:xfrm>
          <a:prstGeom prst="round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TASK NODE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0116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B0"/>
                </a:solidFill>
                <a:latin typeface="Segoe UI"/>
              </a:defRPr>
            </a:pPr>
            <a:r>
              <a:t>→ tracked in MySQL + Neo4j, joined on trace_id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468880"/>
            <a:ext cx="2743200" cy="365760"/>
          </a:xfrm>
          <a:prstGeom prst="roundRect">
            <a:avLst/>
          </a:prstGeom>
          <a:solidFill>
            <a:srgbClr val="4D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PIPELINE STEP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5146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B0"/>
                </a:solidFill>
                <a:latin typeface="Segoe UI"/>
              </a:defRPr>
            </a:pPr>
            <a:r>
              <a:t>→ tracked in MySQL + Neo4j, joined on trace_id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971800"/>
            <a:ext cx="2743200" cy="36576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TOOL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017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B0"/>
                </a:solidFill>
                <a:latin typeface="Segoe UI"/>
              </a:defRPr>
            </a:pPr>
            <a:r>
              <a:t>→ tracked in MySQL + Neo4j, joined on trace_id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474720"/>
            <a:ext cx="2743200" cy="365760"/>
          </a:xfrm>
          <a:prstGeom prst="round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SCORING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52043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B0"/>
                </a:solidFill>
                <a:latin typeface="Segoe UI"/>
              </a:defRPr>
            </a:pPr>
            <a:r>
              <a:t>→ tracked in MySQL + Neo4j, joined on trace_id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977639"/>
            <a:ext cx="2743200" cy="36576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RL FEEDBACK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402335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B0"/>
                </a:solidFill>
                <a:latin typeface="Segoe UI"/>
              </a:defRPr>
            </a:pPr>
            <a:r>
              <a:t>→ tracked in MySQL + Neo4j, joined on trace_id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480559"/>
            <a:ext cx="2743200" cy="36576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AGENT INTERACTION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52627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B0"/>
                </a:solidFill>
                <a:latin typeface="Segoe UI"/>
              </a:defRPr>
            </a:pPr>
            <a:r>
              <a:t>→ tracked in MySQL + Neo4j, joined on trace_id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983479"/>
            <a:ext cx="2743200" cy="36576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ASSISTANT RESPONSE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02919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B0"/>
                </a:solidFill>
                <a:latin typeface="Segoe UI"/>
              </a:defRPr>
            </a:pPr>
            <a:r>
              <a:t>→ tracked in MySQL + Neo4j, joined on trace_id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760720"/>
            <a:ext cx="11247120" cy="9144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54864" cy="9144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852159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  <a:latin typeface="Segoe UI"/>
              </a:defRPr>
            </a:pPr>
            <a:r>
              <a:t>GET /v1/governance/traces/{trace_id}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172200"/>
            <a:ext cx="109728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Aggregates messages, execution_graph_log, tool_execution_history, score_history, rl_feedback_log, TaskNodes, AgentInteractions into one time-sorted timeline. Used to diagnose the v2 'silent fallback' bug and prove v3 agents actually called servicing_db.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7BFF"/>
                </a:solidFill>
                <a:latin typeface="Segoe UI"/>
              </a:defRPr>
            </a:pPr>
            <a:r>
              <a:t>ML Insights — Self-Improving Orchestration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0B0B0"/>
                </a:solidFill>
                <a:latin typeface="Segoe UI"/>
              </a:defRPr>
            </a:pPr>
            <a:r>
              <a:t>Four learning loops tapped into the pipeline, all visible in one operator page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237744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4864" cy="2377440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B47BC"/>
                </a:solidFill>
                <a:latin typeface="Segoe UI"/>
              </a:defRPr>
            </a:pPr>
            <a:r>
              <a:t>1A — Contextual Bandits (SHADOW)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52120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Thompson Sampling over Beta(α, β) per (agent, context).</a:t>
            </a:r>
            <a:br/>
            <a:r>
              <a:t>Hooked into Step 3 negotiation. Logs what the bandit would pick alongside the bid winner. Flipping to LIVE is one line once arms reach 20 pulls.</a:t>
            </a:r>
            <a:br/>
            <a:r>
              <a:t>60% baseline prior per operator request.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237744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4864" cy="2377440"/>
          </a:xfrm>
          <a:prstGeom prst="rect">
            <a:avLst/>
          </a:prstGeom>
          <a:solidFill>
            <a:srgbClr val="4D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630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DA6FF"/>
                </a:solidFill>
                <a:latin typeface="Segoe UI"/>
              </a:defRPr>
            </a:pPr>
            <a:r>
              <a:t>2C — Node2Vec TaskNode Embeddings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83080"/>
            <a:ext cx="52120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Real Node2Vec (networkx + gensim) over Neo4j TaskGraph.</a:t>
            </a:r>
            <a:br/>
            <a:r>
              <a:t>595 nodes embedded across 116 graphs.</a:t>
            </a:r>
            <a:br/>
            <a:r>
              <a:t>Feeds the learned scorer; reusable feature surface for future GNN work.</a:t>
            </a:r>
            <a:br/>
            <a:r>
              <a:t>Pure-Python spectral-embedding fallback for zero-dep inference.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931920"/>
            <a:ext cx="5486400" cy="237744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931920"/>
            <a:ext cx="54864" cy="2377440"/>
          </a:xfrm>
          <a:prstGeom prst="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023359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00"/>
                </a:solidFill>
                <a:latin typeface="Segoe UI"/>
              </a:defRPr>
            </a:pPr>
            <a:r>
              <a:t>1B — Learned Quality Scorer (SHADOW)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43400"/>
            <a:ext cx="52120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Logistic regression trained offline on thumbs-up/down + 60% bootstrap.</a:t>
            </a:r>
            <a:br/>
            <a:r>
              <a:t>val_accuracy 0.786, val_auc 0.875 on the first 70 samples.</a:t>
            </a:r>
            <a:br/>
            <a:r>
              <a:t>Pure-Python sigmoid inference in orchestrator container (no numpy/sklearn).</a:t>
            </a:r>
            <a:br/>
            <a:r>
              <a:t>22 shadow predictions logged per conversation.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931920"/>
            <a:ext cx="5486400" cy="237744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3931920"/>
            <a:ext cx="54864" cy="237744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023359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  <a:latin typeface="Segoe UI"/>
              </a:defRPr>
            </a:pPr>
            <a:r>
              <a:t>2D — SOP Auto-Discovery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343400"/>
            <a:ext cx="52120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TF-IDF + DBSCAN clustering of recent user messages.</a:t>
            </a:r>
            <a:br/>
            <a:r>
              <a:t>8 proposals produced from 40 real messages on first run.</a:t>
            </a:r>
            <a:br/>
            <a:r>
              <a:t>Human-in-loop review: Promote writes SOPNode into Neo4j, Reject/Correct feed reinforcement signal.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7BFF"/>
                </a:solidFill>
                <a:latin typeface="Segoe UI"/>
              </a:defRPr>
            </a:pPr>
            <a:r>
              <a:t>Data Catalog — Semantic Knowledge 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0B0B0"/>
                </a:solidFill>
                <a:latin typeface="Segoe UI"/>
              </a:defRPr>
            </a:pPr>
            <a:r>
              <a:t>Crawl physical metadata → LLM maps to business ontology → auditor RL feedback loop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554480"/>
            <a:ext cx="2194560" cy="1097280"/>
          </a:xfrm>
          <a:prstGeom prst="roundRect">
            <a:avLst/>
          </a:prstGeom>
          <a:solidFill>
            <a:srgbClr val="4D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CRAWL</a:t>
            </a:r>
            <a:br/>
            <a:br/>
            <a:r>
              <a:t>INFORMATION_SCHEMA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2103120"/>
            <a:ext cx="9144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651760" y="1554480"/>
            <a:ext cx="2194560" cy="1097280"/>
          </a:xfrm>
          <a:prstGeom prst="round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MAP</a:t>
            </a:r>
            <a:br/>
            <a:br/>
            <a:r>
              <a:t>LLM proposes</a:t>
            </a:r>
            <a:br/>
            <a:r>
              <a:t>Domain/Entity/Attribute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2103120"/>
            <a:ext cx="9143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937760" y="1554480"/>
            <a:ext cx="2194560" cy="1097280"/>
          </a:xfrm>
          <a:prstGeom prst="round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WRITE</a:t>
            </a:r>
            <a:br/>
            <a:br/>
            <a:r>
              <a:t>Neo4j ontology</a:t>
            </a:r>
            <a:br/>
            <a:r>
              <a:t>+ MySQL audit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2103120"/>
            <a:ext cx="9144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223760" y="1554480"/>
            <a:ext cx="2194560" cy="109728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REVIEW</a:t>
            </a:r>
            <a:br/>
            <a:br/>
            <a:r>
              <a:t>Auditor:</a:t>
            </a:r>
            <a:br/>
            <a:r>
              <a:t>confirm/correct/reject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2103120"/>
            <a:ext cx="9144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509760" y="1554480"/>
            <a:ext cx="2194560" cy="109728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FEEDBACK</a:t>
            </a:r>
            <a:br/>
            <a:br/>
            <a:r>
              <a:t>RL reward</a:t>
            </a:r>
            <a:br/>
            <a:r>
              <a:t>+1 / −0.5 / −1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Phase 1: MySQL crawler → pmos_servicing • 9 assets • 63 columns • 63 auto-mappings in 44s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657600"/>
            <a:ext cx="5486400" cy="265176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54864" cy="265176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749039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FF"/>
                </a:solidFill>
                <a:latin typeface="Segoe UI"/>
              </a:defRPr>
            </a:pPr>
            <a:r>
              <a:t>KNOWLEDGE GRAPH ONTOLOGY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069080"/>
            <a:ext cx="5212080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(:DataSource)─[HAS_ASSET]→(:DataAsset)</a:t>
            </a:r>
            <a:br/>
            <a:r>
              <a:t>           ─[HAS_COLUMN]→(:DataColumn)</a:t>
            </a:r>
            <a:br/>
            <a:br/>
            <a:r>
              <a:t>(:BusinessDomain)─[HAS_ENTITY]→(:BusinessEntity)</a:t>
            </a:r>
            <a:br/>
            <a:r>
              <a:t>              ─[HAS_ATTRIBUTE]→(:BusinessAttribute)</a:t>
            </a:r>
            <a:br/>
            <a:r>
              <a:t>                      ─[MAPS_TO]→(:DataColumn)</a:t>
            </a:r>
            <a:br/>
            <a:br/>
            <a:r>
              <a:t>(:DataColumn)─[REFERENCES]→(:DataColumn)  (physical FK)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657600"/>
            <a:ext cx="5486400" cy="265176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657600"/>
            <a:ext cx="54864" cy="265176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749039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  <a:latin typeface="Segoe UI"/>
              </a:defRPr>
            </a:pPr>
            <a:r>
              <a:t>LIVE RESULTS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069080"/>
            <a:ext cx="5212080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• Domain: Servicing</a:t>
            </a:r>
            <a:br/>
            <a:r>
              <a:t>• Entities: Loan, Payment, Investor, Default,</a:t>
            </a:r>
            <a:br/>
            <a:r>
              <a:t>  Bankruptcy, Foreclosure, EarlyResolution,</a:t>
            </a:r>
            <a:br/>
            <a:r>
              <a:t>  RiskAssessment, RegulatoryFiling</a:t>
            </a:r>
            <a:br/>
            <a:r>
              <a:t>• avg confidence: 0.957</a:t>
            </a:r>
            <a:br/>
            <a:r>
              <a:t>• LLM enriched: term_months → loan_term_months,</a:t>
            </a:r>
            <a:br/>
            <a:r>
              <a:t>  origination_ref → origination_reference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FF"/>
                </a:solidFill>
                <a:latin typeface="Segoe UI"/>
              </a:defRPr>
            </a:pPr>
            <a:r>
              <a:t>Market Category — Semantic Layer for Federated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0B0B0"/>
                </a:solidFill>
                <a:latin typeface="Segoe UI"/>
              </a:defRPr>
            </a:pPr>
            <a:r>
              <a:t>What we're building has a name — and several marketing labels — depending on which slice the vendor is selling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DA6FF"/>
                </a:solidFill>
                <a:latin typeface="Segoe UI"/>
              </a:defRPr>
            </a:pPr>
            <a:r>
              <a:t>MARKETING LABELS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Semantic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82880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dbt, Cube, AtScale, Looker, Power 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1284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Universal semantic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212848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Cube, AtScale (vendor-neutral)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596896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Metric layer / metric 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596896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dbt MetricFlow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8094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Data catalog with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980944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Alation, Collibra, Atlan, Informatica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64991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Knowledge graph for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364991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Stardog, data.world, Neo4j, Anzo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749039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Conversational analytics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749039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ThoughtSpot, Tableau, Hex,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133087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Text-to-SQL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4133087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Defog, Vanna, WrenAI, Numbers Station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517136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Cortex Analyst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4517136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Snowflake (first-party, late 2024)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463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DA6FF"/>
                </a:solidFill>
                <a:latin typeface="Segoe UI"/>
              </a:defRPr>
            </a:pPr>
            <a:r>
              <a:t>THE COMMON LOOP — EVERYONE IMPLEMENTS THIS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1828800"/>
            <a:ext cx="1828800" cy="384048"/>
          </a:xfrm>
          <a:prstGeom prst="roundRect">
            <a:avLst/>
          </a:prstGeom>
          <a:solidFill>
            <a:srgbClr val="4D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1  CRAWL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1892807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B0"/>
                </a:solidFill>
                <a:latin typeface="Segoe UI"/>
              </a:defRPr>
            </a:pPr>
            <a:r>
              <a:t>physical metadata from sources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2304288"/>
            <a:ext cx="1828800" cy="384048"/>
          </a:xfrm>
          <a:prstGeom prst="round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2  MAP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3682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B0"/>
                </a:solidFill>
                <a:latin typeface="Segoe UI"/>
              </a:defRPr>
            </a:pPr>
            <a:r>
              <a:t>to a semantic layer (LLM + human)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2779776"/>
            <a:ext cx="1828800" cy="384048"/>
          </a:xfrm>
          <a:prstGeom prst="round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3  STORE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284378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B0"/>
                </a:solidFill>
                <a:latin typeface="Segoe UI"/>
              </a:defRPr>
            </a:pPr>
            <a:r>
              <a:t>in a graph / catalog / git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255264"/>
            <a:ext cx="1828800" cy="384048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4  RETRIEVE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331927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B0"/>
                </a:solidFill>
                <a:latin typeface="Segoe UI"/>
              </a:defRPr>
            </a:pPr>
            <a:r>
              <a:t>relevant semantic context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3730752"/>
            <a:ext cx="1828800" cy="384048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5  GENERATE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3794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B0"/>
                </a:solidFill>
                <a:latin typeface="Segoe UI"/>
              </a:defRPr>
            </a:pPr>
            <a:r>
              <a:t>SQL / SPARQL / Cypher / KQL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4206240"/>
            <a:ext cx="1828800" cy="384048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6  EXECUTE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2702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B0"/>
                </a:solidFill>
                <a:latin typeface="Segoe UI"/>
              </a:defRPr>
            </a:pPr>
            <a:r>
              <a:t>+ self-correct / re-rank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93776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Differentiation lives in the details of steps 2 (mapping quality), 4 (retrieval relevance), and 5 (generation grounding). PMOS shares the loop — it competes on how it implements each step.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FF"/>
                </a:solidFill>
                <a:latin typeface="Segoe UI"/>
              </a:defRPr>
            </a:pPr>
            <a:r>
              <a:t>Competitive Landscape — Six Groups of Players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0B0B0"/>
                </a:solidFill>
                <a:latin typeface="Segoe UI"/>
              </a:defRPr>
            </a:pPr>
            <a:r>
              <a:t>The category is real and crowded; vendors that started in different buckets are converging on the same shape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80160"/>
            <a:ext cx="3794760" cy="246888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54864" cy="2468880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B47BC"/>
                </a:solidFill>
                <a:latin typeface="Segoe UI"/>
              </a:defRPr>
            </a:pPr>
            <a:r>
              <a:t>1. KNOWLEDGE-GRAPH 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39"/>
            <a:ext cx="3520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Closest architectural cousins to PMOS.</a:t>
            </a:r>
            <a:br/>
            <a:br/>
            <a:r>
              <a:t>• Stardog — RDF KG + Voicebox NL→SPARQL</a:t>
            </a:r>
            <a:br/>
            <a:r>
              <a:t>• data.world — graph-native, regulated industries</a:t>
            </a:r>
            <a:br/>
            <a:r>
              <a:t>• Anzo (Cambridge Semantics) — enterprise KG</a:t>
            </a:r>
            <a:br/>
            <a:r>
              <a:t>• Neo4j — GraphRAG framework + reference arch</a:t>
            </a:r>
            <a:br/>
            <a:br/>
            <a:r>
              <a:t>Years on ontology + entity resolution.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80160"/>
            <a:ext cx="3794760" cy="246888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280160"/>
            <a:ext cx="54864" cy="246888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37160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FF"/>
                </a:solidFill>
                <a:latin typeface="Segoe UI"/>
              </a:defRPr>
            </a:pPr>
            <a:r>
              <a:t>2. MODERN DATA CATALOGS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691639"/>
            <a:ext cx="3520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Catalogs catching up by bolting LLMs on top.</a:t>
            </a:r>
            <a:br/>
            <a:br/>
            <a:r>
              <a:t>• Alation — Alation Aurora</a:t>
            </a:r>
            <a:br/>
            <a:r>
              <a:t>• Collibra — Collibra AI</a:t>
            </a:r>
            <a:br/>
            <a:r>
              <a:t>• Atlan — most aggressive AI positioning</a:t>
            </a:r>
            <a:br/>
            <a:r>
              <a:t>• Informatica — CLAIRE GPT</a:t>
            </a:r>
            <a:br/>
            <a:br/>
            <a:r>
              <a:t>Strong on metadata + distribution; thin AI layers.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280160"/>
            <a:ext cx="3794760" cy="246888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280160"/>
            <a:ext cx="54864" cy="2468880"/>
          </a:xfrm>
          <a:prstGeom prst="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37160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00"/>
                </a:solidFill>
                <a:latin typeface="Segoe UI"/>
              </a:defRPr>
            </a:pPr>
            <a:r>
              <a:t>3. SEMANTIC / METRIC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691639"/>
            <a:ext cx="3520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Define metrics in code, query through them.</a:t>
            </a:r>
            <a:br/>
            <a:br/>
            <a:r>
              <a:t>• dbt Labs — Semantic Layer + MetricFlow</a:t>
            </a:r>
            <a:br/>
            <a:r>
              <a:t>• Cube — universal semantic layer</a:t>
            </a:r>
            <a:br/>
            <a:r>
              <a:t>• AtScale — enterprise semantic layer</a:t>
            </a:r>
            <a:br/>
            <a:r>
              <a:t>• Looker (Google) — LookML + Gemini</a:t>
            </a:r>
            <a:br/>
            <a:r>
              <a:t>• Power BI / Tableau — Copilot + Pulse</a:t>
            </a:r>
            <a:br/>
            <a:br/>
            <a:r>
              <a:t>Strong BI; weak on cross-source federation.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886200"/>
            <a:ext cx="3794760" cy="246888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886200"/>
            <a:ext cx="54864" cy="246888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77639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  <a:latin typeface="Segoe UI"/>
              </a:defRPr>
            </a:pPr>
            <a:r>
              <a:t>4. TEXT-TO-SQL OSS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97680"/>
            <a:ext cx="3520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Most directly comparable to PMOS internals.</a:t>
            </a:r>
            <a:br/>
            <a:br/>
            <a:r>
              <a:t>• WrenAI (Canner) — closest architecturally</a:t>
            </a:r>
            <a:br/>
            <a:r>
              <a:t>• Vanna.ai — RAG-to-SQL, simpler</a:t>
            </a:r>
            <a:br/>
            <a:r>
              <a:t>• Defog SQLCoder — fine-tuned SQL models</a:t>
            </a:r>
            <a:br/>
            <a:r>
              <a:t>• Numbers Station — foundation-model approach</a:t>
            </a:r>
            <a:br/>
            <a:r>
              <a:t>• Dataherald — pluggable NL-to-SQL</a:t>
            </a:r>
            <a:br/>
            <a:br/>
            <a:r>
              <a:t>Read WrenAI's codebase before adding crawlers.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3886200"/>
            <a:ext cx="3794760" cy="246888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97680" y="3886200"/>
            <a:ext cx="54864" cy="246888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3977639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44336"/>
                </a:solidFill>
                <a:latin typeface="Segoe UI"/>
              </a:defRPr>
            </a:pPr>
            <a:r>
              <a:t>5. CLOUD PLATFORMS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297680"/>
            <a:ext cx="3520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Late but heavy hitters; will commoditize the easy 80%.</a:t>
            </a:r>
            <a:br/>
            <a:br/>
            <a:r>
              <a:t>• Snowflake Cortex Analyst (late 2024)</a:t>
            </a:r>
            <a:br/>
            <a:r>
              <a:t>• Databricks Genie</a:t>
            </a:r>
            <a:br/>
            <a:r>
              <a:t>• BigQuery + Gemini</a:t>
            </a:r>
            <a:br/>
            <a:r>
              <a:t>• AWS Q for Business (laggard, fragmented)</a:t>
            </a:r>
            <a:br/>
            <a:br/>
            <a:r>
              <a:t>Polished for their own data; weak on legacy systems they don't own.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3886200"/>
            <a:ext cx="3794760" cy="246888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0" y="3886200"/>
            <a:ext cx="54864" cy="2468880"/>
          </a:xfrm>
          <a:prstGeom prst="rect">
            <a:avLst/>
          </a:prstGeom>
          <a:solidFill>
            <a:srgbClr val="4D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3977639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DA6FF"/>
                </a:solidFill>
                <a:latin typeface="Segoe UI"/>
              </a:defRPr>
            </a:pPr>
            <a:r>
              <a:t>6. IN-HOUSE ENTERPRISE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297680"/>
            <a:ext cx="3520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Case studies, not products; prove pattern at scale.</a:t>
            </a:r>
            <a:br/>
            <a:br/>
            <a:r>
              <a:t>• Uber QueryGPT — multi-agent, well-documented</a:t>
            </a:r>
            <a:br/>
            <a:r>
              <a:t>• LinkedIn DARWIN / SQLGen</a:t>
            </a:r>
            <a:br/>
            <a:r>
              <a:t>• Pinterest Querybot</a:t>
            </a:r>
            <a:br/>
            <a:r>
              <a:t>• Airbnb internal text-to-SQL</a:t>
            </a:r>
            <a:br/>
            <a:r>
              <a:t>• Meta + Stripe internal versions</a:t>
            </a:r>
            <a:br/>
            <a:br/>
            <a:r>
              <a:t>Architectures public via papers and posts.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FF"/>
                </a:solidFill>
                <a:latin typeface="Segoe UI"/>
              </a:defRPr>
            </a:pPr>
            <a:r>
              <a:t>Where PMOS Does What Others Don't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0B0B0"/>
                </a:solidFill>
                <a:latin typeface="Segoe UI"/>
              </a:defRPr>
            </a:pPr>
            <a:r>
              <a:t>Three differences that make PMOS more than yet-another text-to-SQL tool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657600" cy="493776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54864" cy="4937760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B47BC"/>
                </a:solidFill>
                <a:latin typeface="Segoe UI"/>
              </a:defRPr>
            </a:pPr>
            <a:r>
              <a:t>1. MULTI-AGENT BIDDING + RL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20"/>
            <a:ext cx="33832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None of the named products treat agent selection as a contextual bandit.</a:t>
            </a:r>
            <a:br/>
            <a:br/>
            <a:r>
              <a:t>They have ONE LLM (or a fixed router) doing everything.</a:t>
            </a:r>
            <a:br/>
            <a:br/>
            <a:r>
              <a:t>PMOS has a population of agents that:</a:t>
            </a:r>
            <a:br/>
            <a:r>
              <a:t>• Compete for tasks via bidding</a:t>
            </a:r>
            <a:br/>
            <a:r>
              <a:t>• Get scored after execution</a:t>
            </a:r>
            <a:br/>
            <a:r>
              <a:t>• Receive RL feedback (rewards)</a:t>
            </a:r>
            <a:br/>
            <a:r>
              <a:t>• Converge over time</a:t>
            </a:r>
            <a:br/>
            <a:br/>
            <a:r>
              <a:t>Catalog vendors don't think this way at all — their world is one agent answering one question.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63040"/>
            <a:ext cx="3657600" cy="493776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54864" cy="493776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5544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  <a:latin typeface="Segoe UI"/>
              </a:defRPr>
            </a:pPr>
            <a:r>
              <a:t>2. INFERENCE TRACEABILITY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20"/>
            <a:ext cx="33832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The Model Governance page shows the full hop-by-hop reasoning chain:</a:t>
            </a:r>
            <a:br/>
            <a:br/>
            <a:r>
              <a:t>user → bid → task nodes → tool calls → scoring → RL feedback → response</a:t>
            </a:r>
            <a:br/>
            <a:br/>
            <a:r>
              <a:t>as a layered timeline an operator can read like a flight recorder.</a:t>
            </a:r>
            <a:br/>
            <a:br/>
            <a:r>
              <a:t>Stardog and data.world come closest because the knowledge graph naturally records the path — but neither surfaces it as a UI the way PMOS does.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463040"/>
            <a:ext cx="3657600" cy="493776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1463040"/>
            <a:ext cx="54864" cy="4937760"/>
          </a:xfrm>
          <a:prstGeom prst="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5544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00"/>
                </a:solidFill>
                <a:latin typeface="Segoe UI"/>
              </a:defRPr>
            </a:pPr>
            <a:r>
              <a:t>3. AGENTS + DATA IN ONE GRAPH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874520"/>
            <a:ext cx="33832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Most products keep the catalog (data side) and the orchestration runtime (agent side) in SEPARATE stores.</a:t>
            </a:r>
            <a:br/>
            <a:br/>
            <a:r>
              <a:t>PMOS puts in ONE Neo4j instance:</a:t>
            </a:r>
            <a:br/>
            <a:r>
              <a:t>• TaskNode + AgentInteraction (runtime)</a:t>
            </a:r>
            <a:br/>
            <a:r>
              <a:t>• BusinessEntity + DataAsset (catalog)</a:t>
            </a:r>
            <a:br/>
            <a:r>
              <a:t>• MAPS_TO + SPAWNED_BY edges</a:t>
            </a:r>
            <a:br/>
            <a:br/>
            <a:r>
              <a:t>The bet: the JOIN between 'what the agent did' and 'what the data means' is itself a useful query target — and the system that learns from its own behavior needs that join.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FF"/>
                </a:solidFill>
                <a:latin typeface="Segoe UI"/>
              </a:defRPr>
            </a:pPr>
            <a:r>
              <a:t>Honest Gaps and Strategic 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0B0B0"/>
                </a:solidFill>
                <a:latin typeface="Segoe UI"/>
              </a:defRPr>
            </a:pPr>
            <a:r>
              <a:t>What others do better than PMOS today, and where PMOS should choose to compete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27432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4864" cy="274320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44336"/>
                </a:solidFill>
                <a:latin typeface="Segoe UI"/>
              </a:defRPr>
            </a:pPr>
            <a:r>
              <a:t>WHAT OTHERS DO BETTER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521208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• Ontology curation tooling — Stardog, Atlan: years of entity resolution, glossary, lineage propagation</a:t>
            </a:r>
            <a:br/>
            <a:r>
              <a:t>• Connector library — Alation/Collibra/Atlan/Informatica have hundreds of connectors; PMOS has one (MySQL)</a:t>
            </a:r>
            <a:br/>
            <a:r>
              <a:t>• Enterprise security — column ACLs, masking, ABAC, audit-log compliance</a:t>
            </a:r>
            <a:br/>
            <a:r>
              <a:t>• BI tool integration — dbt/Cube/AtScale plug into Tableau, Power BI, Looker, ThoughtSpot natively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274320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4864" cy="27432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630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  <a:latin typeface="Segoe UI"/>
              </a:defRPr>
            </a:pPr>
            <a:r>
              <a:t>WHERE PMOS SHOULD COMPETE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83080"/>
            <a:ext cx="521208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B0"/>
                </a:solidFill>
                <a:latin typeface="Segoe UI"/>
              </a:defRPr>
            </a:pPr>
            <a:r>
              <a:t>NOT 'another text-to-SQL on Snowflake' — that race is over before it starts (Cortex Analyst already won).</a:t>
            </a:r>
            <a:br/>
            <a:br/>
            <a:r>
              <a:t>INSTEAD: 'Multi-agent reasoning system with KG-based semantic substrate, full inference traceability, and RL-driven self-improvement, designed for FEDERATED data estates the cloud vendors don't own.'</a:t>
            </a:r>
            <a:br/>
            <a:br/>
            <a:r>
              <a:t>Buyers: financial services, healthcare, government, large industrials — anywhere data sprawls across 30 systems no one will migrate.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389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DA6FF"/>
                </a:solidFill>
                <a:latin typeface="Segoe UI"/>
              </a:defRPr>
            </a:pPr>
            <a:r>
              <a:t>THREE COMPETITORS TO WATCH CLOSELY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46320"/>
            <a:ext cx="3749039" cy="164592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WrenAI (open source)</a:t>
            </a:r>
            <a:br/>
            <a:br/>
            <a:r>
              <a:t>Architecturally closest. If they add the agent-bidding layer, they become a direct competitor.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4846320"/>
            <a:ext cx="3749039" cy="164592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Snowflake Cortex Analyst</a:t>
            </a:r>
            <a:br/>
            <a:br/>
            <a:r>
              <a:t>If they make it easy to register external sources via their semantic model, they capture every Snowflake customer.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4846320"/>
            <a:ext cx="3749039" cy="1645920"/>
          </a:xfrm>
          <a:prstGeom prst="roundRect">
            <a:avLst/>
          </a:prstGeom>
          <a:solidFill>
            <a:srgbClr val="3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Atlan (catalog vendor)</a:t>
            </a:r>
            <a:br/>
            <a:br/>
            <a:r>
              <a:t>Most likely catalog vendor to add a governance trace UI. If they ship it, the differentiation gap closes on that axis.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007BFF"/>
                </a:solidFill>
                <a:latin typeface="Segoe UI"/>
              </a:defRPr>
            </a:pPr>
            <a:r>
              <a:t>PMOS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Segoe UI"/>
              </a:defRPr>
            </a:pPr>
            <a:r>
              <a:t>Connect any data source. Ask any question.</a:t>
            </a:r>
            <a:br/>
            <a:r>
              <a:t>Get deterministic answers in minutes, not hours.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0B0"/>
                </a:solidFill>
                <a:latin typeface="Segoe UI"/>
              </a:defRPr>
            </a:pPr>
            <a:r>
              <a:t>7 microservices  |  4 data stores  |  6 agents  |  7 Redis streams</a:t>
            </a:r>
            <a:br/>
            <a:br/>
            <a:r>
              <a:t>Home-lending business domain — 6 schemas, 27 tables  |  Cross-system queries</a:t>
            </a:r>
            <a:br/>
            <a:br/>
            <a:r>
              <a:t>Model Governance — full inference traceability per trace_id</a:t>
            </a:r>
            <a:br/>
            <a:br/>
            <a:r>
              <a:t>ML Insights — bandits, Node2Vec, learned scorer, SOP discovery, shadow-mode</a:t>
            </a:r>
            <a:br/>
            <a:br/>
            <a:r>
              <a:t>Data Catalog — metadata crawler + semantic KG + auditor RL feedback</a:t>
            </a:r>
            <a:br/>
            <a:br/>
            <a:r>
              <a:t>Positioning: federated reasoning system, NOT text-to-SQL-on-Snowflake</a:t>
            </a:r>
            <a:br/>
            <a:br/>
            <a:r>
              <a:t>Closest cousins: Stardog, data.world, WrenAI  |  Watch: Cortex, Atlan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636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DA6FF"/>
                </a:solidFill>
                <a:latin typeface="Segoe UI"/>
              </a:defRPr>
            </a:pPr>
            <a:r>
              <a:t>github.com/kreonakrish/pmos  |  localhost:3000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