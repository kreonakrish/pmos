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743200"/>
          </a:xfrm>
          <a:prstGeom prst="rect">
            <a:avLst/>
          </a:prstGeom>
          <a:solidFill>
            <a:srgbClr val="1440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CBD8F7"/>
                </a:solidFill>
                <a:latin typeface="Calibri"/>
              </a:rPr>
              <a:t>CTO STRATEGY BRIEF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97280"/>
            <a:ext cx="105156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latin typeface="Calibri"/>
              </a:rPr>
              <a:t>Data Engineering Roadmap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011680"/>
            <a:ext cx="10515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>
                <a:solidFill>
                  <a:srgbClr val="CBD8F7"/>
                </a:solidFill>
                <a:latin typeface="Calibri"/>
              </a:rPr>
              <a:t>2026 — 2030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200400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>
                <a:solidFill>
                  <a:srgbClr val="1F2A44"/>
                </a:solidFill>
                <a:latin typeface="Calibri"/>
              </a:rPr>
              <a:t>The role is not disappearing. It is splitting.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749039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>
                <a:solidFill>
                  <a:srgbClr val="55607A"/>
                </a:solidFill>
                <a:latin typeface="Calibri"/>
              </a:rPr>
              <a:t>Here is how we lead our team through the transition.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12648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55607A"/>
                </a:solidFill>
                <a:latin typeface="Calibri"/>
              </a:rPr>
              <a:t>Prepared for executive review · Confidential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B55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>
                <a:solidFill>
                  <a:srgbClr val="1F2A44"/>
                </a:solidFill>
                <a:latin typeface="Calibri"/>
              </a:rPr>
              <a:t>Executive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7724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5607A"/>
                </a:solidFill>
                <a:latin typeface="Calibri"/>
              </a:rPr>
              <a:t>One-slide read for CFO / CEO. Three numbers, one ask.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0" y="6446520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A"/>
                </a:solidFill>
                <a:latin typeface="Calibri"/>
              </a:rPr>
              <a:t>2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400800"/>
            <a:ext cx="11155680" cy="18288"/>
          </a:xfrm>
          <a:prstGeom prst="rect">
            <a:avLst/>
          </a:prstGeom>
          <a:solidFill>
            <a:srgbClr val="E3E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325880"/>
            <a:ext cx="11155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440A8"/>
                </a:solidFill>
                <a:latin typeface="Calibri"/>
              </a:rPr>
              <a:t>The shift in three lines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691640"/>
            <a:ext cx="10972800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>
                <a:solidFill>
                  <a:srgbClr val="1F2A44"/>
                </a:solidFill>
                <a:latin typeface="Calibri"/>
              </a:rPr>
              <a:t>•  Vendors and agentic catalogs absorb ~30% of today's DE work by 2028.</a:t>
            </a:r>
          </a:p>
          <a:p>
            <a:pPr algn="l">
              <a:spcAft>
                <a:spcPts val="600"/>
              </a:spcAft>
            </a:pPr>
            <a:r>
              <a:rPr sz="1500">
                <a:solidFill>
                  <a:srgbClr val="1F2A44"/>
                </a:solidFill>
                <a:latin typeface="Calibri"/>
              </a:rPr>
              <a:t>•  Domain modeling, privacy, agent ops, and cross-vendor reasoning grow ~30%.</a:t>
            </a:r>
          </a:p>
          <a:p>
            <a:pPr algn="l">
              <a:spcAft>
                <a:spcPts val="600"/>
              </a:spcAft>
            </a:pPr>
            <a:r>
              <a:rPr sz="1500">
                <a:solidFill>
                  <a:srgbClr val="1F2A44"/>
                </a:solidFill>
                <a:latin typeface="Calibri"/>
              </a:rPr>
              <a:t>•  The middle 40% (contracts, semantic layers, DQ) stays human but turns declarative.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3246120"/>
            <a:ext cx="11155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440A8"/>
                </a:solidFill>
                <a:latin typeface="Calibri"/>
              </a:rPr>
              <a:t>Net effect on our team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611880"/>
            <a:ext cx="10972800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>
                <a:solidFill>
                  <a:srgbClr val="1F2A44"/>
                </a:solidFill>
                <a:latin typeface="Calibri"/>
              </a:rPr>
              <a:t>•  Headcount: flat for ~3 years, then specialization-driven growth.</a:t>
            </a:r>
          </a:p>
          <a:p>
            <a:pPr algn="l">
              <a:spcAft>
                <a:spcPts val="600"/>
              </a:spcAft>
            </a:pPr>
            <a:r>
              <a:rPr sz="1500">
                <a:solidFill>
                  <a:srgbClr val="1F2A44"/>
                </a:solidFill>
                <a:latin typeface="Calibri"/>
              </a:rPr>
              <a:t>•  Skill mix: ~60% turnover required across the 5-year window.</a:t>
            </a:r>
          </a:p>
          <a:p>
            <a:pPr algn="l">
              <a:spcAft>
                <a:spcPts val="600"/>
              </a:spcAft>
            </a:pPr>
            <a:r>
              <a:rPr sz="1500">
                <a:solidFill>
                  <a:srgbClr val="1F2A44"/>
                </a:solidFill>
                <a:latin typeface="Calibri"/>
              </a:rPr>
              <a:t>•  Comp: top-tier rises, bottom-tier flattens — the team polarizes.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5212080"/>
            <a:ext cx="11155680" cy="914400"/>
          </a:xfrm>
          <a:prstGeom prst="roundRect">
            <a:avLst/>
          </a:prstGeom>
          <a:solidFill>
            <a:srgbClr val="FEF6E6"/>
          </a:solidFill>
          <a:ln w="19050">
            <a:solidFill>
              <a:srgbClr val="C146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534924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C1462C"/>
                </a:solidFill>
                <a:latin typeface="Calibri"/>
              </a:rPr>
              <a:t>Decision asked of leadership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5669280"/>
            <a:ext cx="10607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1F2A44"/>
                </a:solidFill>
                <a:latin typeface="Calibri"/>
              </a:rPr>
              <a:t>Approve a 5-year reskilling + hiring shift. Freeze hiring on legacy pipeline roles starting Q1 2026.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B55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>
                <a:solidFill>
                  <a:srgbClr val="1F2A44"/>
                </a:solidFill>
                <a:latin typeface="Calibri"/>
              </a:rPr>
              <a:t>Forces Reshaping the Role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7724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5607A"/>
                </a:solidFill>
                <a:latin typeface="Calibri"/>
              </a:rPr>
              <a:t>Five disruption vectors converging now.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0" y="6446520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A"/>
                </a:solidFill>
                <a:latin typeface="Calibri"/>
              </a:rPr>
              <a:t>3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400800"/>
            <a:ext cx="11155680" cy="18288"/>
          </a:xfrm>
          <a:prstGeom prst="rect">
            <a:avLst/>
          </a:prstGeom>
          <a:solidFill>
            <a:srgbClr val="E3E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02920" y="1463040"/>
          <a:ext cx="1115568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86400"/>
                <a:gridCol w="2286000"/>
                <a:gridCol w="3383280"/>
              </a:tblGrid>
              <a:tr h="548640">
                <a:tc>
                  <a:txBody>
                    <a:bodyPr lIns="60000" rIns="60000" tIns="40000" bIns="40000"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Force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  <a:tc>
                  <a:txBody>
                    <a:bodyPr lIns="60000" rIns="60000" tIns="40000" bIns="40000"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Status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  <a:tc>
                  <a:txBody>
                    <a:bodyPr lIns="60000" rIns="60000" tIns="40000" bIns="40000"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Time horizon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</a:tr>
              <a:tr h="548640">
                <a:tc>
                  <a:txBody>
                    <a:bodyPr lIns="60000" rIns="60000" tIns="30000" bIns="30000" wrap="square"/>
                    <a:lstStyle/>
                    <a:p>
                      <a:pPr algn="l"/>
                      <a:r>
                        <a:rPr sz="1300">
                          <a:solidFill>
                            <a:srgbClr val="1F2A44"/>
                          </a:solidFill>
                          <a:latin typeface="Calibri"/>
                        </a:rPr>
                        <a:t>Operational apps shift-left to lake (Iceberg / Delta)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60000" rIns="60000" tIns="30000" bIns="30000" wrap="square"/>
                    <a:lstStyle/>
                    <a:p>
                      <a:pPr algn="l"/>
                      <a:r>
                        <a:rPr sz="1300">
                          <a:solidFill>
                            <a:srgbClr val="1F2A44"/>
                          </a:solidFill>
                          <a:latin typeface="Calibri"/>
                        </a:rPr>
                        <a:t>Active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60000" rIns="60000" tIns="30000" bIns="30000" wrap="square"/>
                    <a:lstStyle/>
                    <a:p>
                      <a:pPr algn="l"/>
                      <a:r>
                        <a:rPr sz="1300">
                          <a:solidFill>
                            <a:srgbClr val="1F2A44"/>
                          </a:solidFill>
                          <a:latin typeface="Calibri"/>
                        </a:rPr>
                        <a:t>2-3 yrs to mainstream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lIns="60000" rIns="60000" tIns="30000" bIns="30000" wrap="square"/>
                    <a:lstStyle/>
                    <a:p>
                      <a:pPr algn="l"/>
                      <a:r>
                        <a:rPr sz="1300">
                          <a:solidFill>
                            <a:srgbClr val="1F2A44"/>
                          </a:solidFill>
                          <a:latin typeface="Calibri"/>
                        </a:rPr>
                        <a:t>Vendor agentic cataloging (Snowflake / Databricks / Microsoft)</a:t>
                      </a:r>
                    </a:p>
                  </a:txBody>
                  <a:tcPr>
                    <a:solidFill>
                      <a:srgbClr val="F5F7FB"/>
                    </a:solidFill>
                  </a:tcPr>
                </a:tc>
                <a:tc>
                  <a:txBody>
                    <a:bodyPr lIns="60000" rIns="60000" tIns="30000" bIns="30000" wrap="square"/>
                    <a:lstStyle/>
                    <a:p>
                      <a:pPr algn="l"/>
                      <a:r>
                        <a:rPr sz="1300">
                          <a:solidFill>
                            <a:srgbClr val="1F2A44"/>
                          </a:solidFill>
                          <a:latin typeface="Calibri"/>
                        </a:rPr>
                        <a:t>Live in beta</a:t>
                      </a:r>
                    </a:p>
                  </a:txBody>
                  <a:tcPr>
                    <a:solidFill>
                      <a:srgbClr val="F5F7FB"/>
                    </a:solidFill>
                  </a:tcPr>
                </a:tc>
                <a:tc>
                  <a:txBody>
                    <a:bodyPr lIns="60000" rIns="60000" tIns="30000" bIns="30000" wrap="square"/>
                    <a:lstStyle/>
                    <a:p>
                      <a:pPr algn="l"/>
                      <a:r>
                        <a:rPr sz="1300">
                          <a:solidFill>
                            <a:srgbClr val="1F2A44"/>
                          </a:solidFill>
                          <a:latin typeface="Calibri"/>
                        </a:rPr>
                        <a:t>12-18 mo to GA</a:t>
                      </a:r>
                    </a:p>
                  </a:txBody>
                  <a:tcPr>
                    <a:solidFill>
                      <a:srgbClr val="F5F7FB"/>
                    </a:solidFill>
                  </a:tcPr>
                </a:tc>
              </a:tr>
              <a:tr h="548640">
                <a:tc>
                  <a:txBody>
                    <a:bodyPr lIns="60000" rIns="60000" tIns="30000" bIns="30000" wrap="square"/>
                    <a:lstStyle/>
                    <a:p>
                      <a:pPr algn="l"/>
                      <a:r>
                        <a:rPr sz="1300">
                          <a:solidFill>
                            <a:srgbClr val="1F2A44"/>
                          </a:solidFill>
                          <a:latin typeface="Calibri"/>
                        </a:rPr>
                        <a:t>LLM-driven NL-to-SQL + semantic layer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60000" rIns="60000" tIns="30000" bIns="30000" wrap="square"/>
                    <a:lstStyle/>
                    <a:p>
                      <a:pPr algn="l"/>
                      <a:r>
                        <a:rPr sz="1300">
                          <a:solidFill>
                            <a:srgbClr val="1F2A44"/>
                          </a:solidFill>
                          <a:latin typeface="Calibri"/>
                        </a:rPr>
                        <a:t>Live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60000" rIns="60000" tIns="30000" bIns="30000" wrap="square"/>
                    <a:lstStyle/>
                    <a:p>
                      <a:pPr algn="l"/>
                      <a:r>
                        <a:rPr sz="1300">
                          <a:solidFill>
                            <a:srgbClr val="1F2A44"/>
                          </a:solidFill>
                          <a:latin typeface="Calibri"/>
                        </a:rPr>
                        <a:t>Already eroding routine SQL roles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lIns="60000" rIns="60000" tIns="30000" bIns="30000" wrap="square"/>
                    <a:lstStyle/>
                    <a:p>
                      <a:pPr algn="l"/>
                      <a:r>
                        <a:rPr sz="1300">
                          <a:solidFill>
                            <a:srgbClr val="1F2A44"/>
                          </a:solidFill>
                          <a:latin typeface="Calibri"/>
                        </a:rPr>
                        <a:t>Data contracts as the new primitive</a:t>
                      </a:r>
                    </a:p>
                  </a:txBody>
                  <a:tcPr>
                    <a:solidFill>
                      <a:srgbClr val="F5F7FB"/>
                    </a:solidFill>
                  </a:tcPr>
                </a:tc>
                <a:tc>
                  <a:txBody>
                    <a:bodyPr lIns="60000" rIns="60000" tIns="30000" bIns="30000" wrap="square"/>
                    <a:lstStyle/>
                    <a:p>
                      <a:pPr algn="l"/>
                      <a:r>
                        <a:rPr sz="1300">
                          <a:solidFill>
                            <a:srgbClr val="1F2A44"/>
                          </a:solidFill>
                          <a:latin typeface="Calibri"/>
                        </a:rPr>
                        <a:t>Emerging</a:t>
                      </a:r>
                    </a:p>
                  </a:txBody>
                  <a:tcPr>
                    <a:solidFill>
                      <a:srgbClr val="F5F7FB"/>
                    </a:solidFill>
                  </a:tcPr>
                </a:tc>
                <a:tc>
                  <a:txBody>
                    <a:bodyPr lIns="60000" rIns="60000" tIns="30000" bIns="30000" wrap="square"/>
                    <a:lstStyle/>
                    <a:p>
                      <a:pPr algn="l"/>
                      <a:r>
                        <a:rPr sz="1300">
                          <a:solidFill>
                            <a:srgbClr val="1F2A44"/>
                          </a:solidFill>
                          <a:latin typeface="Calibri"/>
                        </a:rPr>
                        <a:t>2-3 yrs to standardize</a:t>
                      </a:r>
                    </a:p>
                  </a:txBody>
                  <a:tcPr>
                    <a:solidFill>
                      <a:srgbClr val="F5F7FB"/>
                    </a:solidFill>
                  </a:tcPr>
                </a:tc>
              </a:tr>
              <a:tr h="548640">
                <a:tc>
                  <a:txBody>
                    <a:bodyPr lIns="60000" rIns="60000" tIns="30000" bIns="30000" wrap="square"/>
                    <a:lstStyle/>
                    <a:p>
                      <a:pPr algn="l"/>
                      <a:r>
                        <a:rPr sz="1300">
                          <a:solidFill>
                            <a:srgbClr val="1F2A44"/>
                          </a:solidFill>
                          <a:latin typeface="Calibri"/>
                        </a:rPr>
                        <a:t>Privacy + sovereignty regulation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60000" rIns="60000" tIns="30000" bIns="30000" wrap="square"/>
                    <a:lstStyle/>
                    <a:p>
                      <a:pPr algn="l"/>
                      <a:r>
                        <a:rPr sz="1300">
                          <a:solidFill>
                            <a:srgbClr val="1F2A44"/>
                          </a:solidFill>
                          <a:latin typeface="Calibri"/>
                        </a:rPr>
                        <a:t>Tightening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60000" rIns="60000" tIns="30000" bIns="30000" wrap="square"/>
                    <a:lstStyle/>
                    <a:p>
                      <a:pPr algn="l"/>
                      <a:r>
                        <a:rPr sz="1300">
                          <a:solidFill>
                            <a:srgbClr val="1F2A44"/>
                          </a:solidFill>
                          <a:latin typeface="Calibri"/>
                        </a:rPr>
                        <a:t>Continuous through 2030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502920" y="5120640"/>
            <a:ext cx="11155680" cy="914400"/>
          </a:xfrm>
          <a:prstGeom prst="roundRect">
            <a:avLst/>
          </a:prstGeom>
          <a:solidFill>
            <a:srgbClr val="ECF3FF"/>
          </a:solidFill>
          <a:ln w="12700">
            <a:solidFill>
              <a:srgbClr val="1B5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525780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1440A8"/>
                </a:solidFill>
                <a:latin typeface="Calibri"/>
              </a:rPr>
              <a:t>Implication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5577840"/>
            <a:ext cx="10607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1F2A44"/>
                </a:solidFill>
                <a:latin typeface="Calibri"/>
              </a:rPr>
              <a:t>Every routine pipeline / catalog / KPI-SQL task is on a 36-month decline curve.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B55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>
                <a:solidFill>
                  <a:srgbClr val="1F2A44"/>
                </a:solidFill>
                <a:latin typeface="Calibri"/>
              </a:rPr>
              <a:t>The 30 / 40 / 30 Split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7724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5607A"/>
                </a:solidFill>
                <a:latin typeface="Calibri"/>
              </a:rPr>
              <a:t>Where the work goes over the next 5 years.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0" y="6446520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A"/>
                </a:solidFill>
                <a:latin typeface="Calibri"/>
              </a:rPr>
              <a:t>4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400800"/>
            <a:ext cx="11155680" cy="18288"/>
          </a:xfrm>
          <a:prstGeom prst="rect">
            <a:avLst/>
          </a:prstGeom>
          <a:solidFill>
            <a:srgbClr val="E3E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02920" y="1463040"/>
          <a:ext cx="1115568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/>
                <a:gridCol w="5303520"/>
                <a:gridCol w="3474720"/>
              </a:tblGrid>
              <a:tr h="822960">
                <a:tc>
                  <a:txBody>
                    <a:bodyPr lIns="60000" rIns="60000" tIns="40000" bIns="40000"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Tier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  <a:tc>
                  <a:txBody>
                    <a:bodyPr lIns="60000" rIns="60000" tIns="40000" bIns="40000"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Today's work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  <a:tc>
                  <a:txBody>
                    <a:bodyPr lIns="60000" rIns="60000" tIns="40000" bIns="40000"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5-year direction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</a:tr>
              <a:tr h="822960">
                <a:tc>
                  <a:txBody>
                    <a:bodyPr lIns="60000" rIns="60000" tIns="30000" bIns="30000" wrap="square"/>
                    <a:lstStyle/>
                    <a:p>
                      <a:pPr algn="l"/>
                      <a:r>
                        <a:rPr sz="1300">
                          <a:solidFill>
                            <a:srgbClr val="1F2A44"/>
                          </a:solidFill>
                          <a:latin typeface="Calibri"/>
                        </a:rPr>
                        <a:t>Bottom 30% — at risk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60000" rIns="60000" tIns="30000" bIns="30000" wrap="square"/>
                    <a:lstStyle/>
                    <a:p>
                      <a:pPr algn="l"/>
                      <a:r>
                        <a:rPr sz="1300">
                          <a:solidFill>
                            <a:srgbClr val="1F2A44"/>
                          </a:solidFill>
                          <a:latin typeface="Calibri"/>
                        </a:rPr>
                        <a:t>Pipeline plumbing, manual schema mapping, routine SQL transforms, doc writing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60000" rIns="60000" tIns="30000" bIns="30000" wrap="square"/>
                    <a:lstStyle/>
                    <a:p>
                      <a:pPr algn="l"/>
                      <a:r>
                        <a:rPr sz="1300">
                          <a:solidFill>
                            <a:srgbClr val="1F2A44"/>
                          </a:solidFill>
                          <a:latin typeface="Calibri"/>
                        </a:rPr>
                        <a:t>Mostly automated. Headcount declines.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22960">
                <a:tc>
                  <a:txBody>
                    <a:bodyPr lIns="60000" rIns="60000" tIns="30000" bIns="30000" wrap="square"/>
                    <a:lstStyle/>
                    <a:p>
                      <a:pPr algn="l"/>
                      <a:r>
                        <a:rPr sz="1300">
                          <a:solidFill>
                            <a:srgbClr val="1F2A44"/>
                          </a:solidFill>
                          <a:latin typeface="Calibri"/>
                        </a:rPr>
                        <a:t>Middle 40% — reshape</a:t>
                      </a:r>
                    </a:p>
                  </a:txBody>
                  <a:tcPr>
                    <a:solidFill>
                      <a:srgbClr val="F5F7FB"/>
                    </a:solidFill>
                  </a:tcPr>
                </a:tc>
                <a:tc>
                  <a:txBody>
                    <a:bodyPr lIns="60000" rIns="60000" tIns="30000" bIns="30000" wrap="square"/>
                    <a:lstStyle/>
                    <a:p>
                      <a:pPr algn="l"/>
                      <a:r>
                        <a:rPr sz="1300">
                          <a:solidFill>
                            <a:srgbClr val="1F2A44"/>
                          </a:solidFill>
                          <a:latin typeface="Calibri"/>
                        </a:rPr>
                        <a:t>Semantic layer, data contracts, DQ governance, lineage</a:t>
                      </a:r>
                    </a:p>
                  </a:txBody>
                  <a:tcPr>
                    <a:solidFill>
                      <a:srgbClr val="F5F7FB"/>
                    </a:solidFill>
                  </a:tcPr>
                </a:tc>
                <a:tc>
                  <a:txBody>
                    <a:bodyPr lIns="60000" rIns="60000" tIns="30000" bIns="30000" wrap="square"/>
                    <a:lstStyle/>
                    <a:p>
                      <a:pPr algn="l"/>
                      <a:r>
                        <a:rPr sz="1300">
                          <a:solidFill>
                            <a:srgbClr val="1F2A44"/>
                          </a:solidFill>
                          <a:latin typeface="Calibri"/>
                        </a:rPr>
                        <a:t>Stays human; shifts procedural to declarative. Headcount flat.</a:t>
                      </a:r>
                    </a:p>
                  </a:txBody>
                  <a:tcPr>
                    <a:solidFill>
                      <a:srgbClr val="F5F7FB"/>
                    </a:solidFill>
                  </a:tcPr>
                </a:tc>
              </a:tr>
              <a:tr h="822960">
                <a:tc>
                  <a:txBody>
                    <a:bodyPr lIns="60000" rIns="60000" tIns="30000" bIns="30000" wrap="square"/>
                    <a:lstStyle/>
                    <a:p>
                      <a:pPr algn="l"/>
                      <a:r>
                        <a:rPr sz="1300">
                          <a:solidFill>
                            <a:srgbClr val="1F2A44"/>
                          </a:solidFill>
                          <a:latin typeface="Calibri"/>
                        </a:rPr>
                        <a:t>Top 30% — grow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60000" rIns="60000" tIns="30000" bIns="30000" wrap="square"/>
                    <a:lstStyle/>
                    <a:p>
                      <a:pPr algn="l"/>
                      <a:r>
                        <a:rPr sz="1300">
                          <a:solidFill>
                            <a:srgbClr val="1F2A44"/>
                          </a:solidFill>
                          <a:latin typeface="Calibri"/>
                        </a:rPr>
                        <a:t>Streaming, privacy, cross-vendor reasoning, agent ops, cost engineering, domain modeling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60000" rIns="60000" tIns="30000" bIns="30000" wrap="square"/>
                    <a:lstStyle/>
                    <a:p>
                      <a:pPr algn="l"/>
                      <a:r>
                        <a:rPr sz="1300">
                          <a:solidFill>
                            <a:srgbClr val="1F2A44"/>
                          </a:solidFill>
                          <a:latin typeface="Calibri"/>
                        </a:rPr>
                        <a:t>Demand exceeds supply. Headcount + comp grow.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02920" y="5029200"/>
            <a:ext cx="11155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440A8"/>
                </a:solidFill>
                <a:latin typeface="Calibri"/>
              </a:rPr>
              <a:t>Strategic move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5394960"/>
            <a:ext cx="11155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1F2A44"/>
                </a:solidFill>
                <a:latin typeface="Calibri"/>
              </a:rPr>
              <a:t>Actively migrate people up the tiers. Stop hiring at the bottom.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B55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>
                <a:solidFill>
                  <a:srgbClr val="1F2A44"/>
                </a:solidFill>
                <a:latin typeface="Calibri"/>
              </a:rPr>
              <a:t>5-Year Timeline at a Glance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7724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5607A"/>
                </a:solidFill>
                <a:latin typeface="Calibri"/>
              </a:rPr>
              <a:t>One page. One arc. Five mile-markers.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0" y="6446520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A"/>
                </a:solidFill>
                <a:latin typeface="Calibri"/>
              </a:rPr>
              <a:t>5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400800"/>
            <a:ext cx="11155680" cy="18288"/>
          </a:xfrm>
          <a:prstGeom prst="rect">
            <a:avLst/>
          </a:prstGeom>
          <a:solidFill>
            <a:srgbClr val="E3E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" name="Connector 6"/>
          <p:cNvCxnSpPr/>
          <p:nvPr/>
        </p:nvCxnSpPr>
        <p:spPr>
          <a:xfrm>
            <a:off x="502920" y="1828800"/>
            <a:ext cx="11183112" cy="0"/>
          </a:xfrm>
          <a:prstGeom prst="line">
            <a:avLst/>
          </a:prstGeom>
          <a:ln w="38100">
            <a:solidFill>
              <a:srgbClr val="1B55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Oval 7"/>
          <p:cNvSpPr/>
          <p:nvPr/>
        </p:nvSpPr>
        <p:spPr>
          <a:xfrm>
            <a:off x="338328" y="1664208"/>
            <a:ext cx="329184" cy="329184"/>
          </a:xfrm>
          <a:prstGeom prst="ellipse">
            <a:avLst/>
          </a:prstGeom>
          <a:solidFill>
            <a:srgbClr val="1440A8"/>
          </a:solidFill>
          <a:ln>
            <a:solidFill>
              <a:srgbClr val="1440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-45719" y="1280160"/>
            <a:ext cx="1097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1440A8"/>
                </a:solidFill>
                <a:latin typeface="Calibri"/>
              </a:rPr>
              <a:t>2026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5760" y="2377440"/>
            <a:ext cx="2121408" cy="3108960"/>
          </a:xfrm>
          <a:prstGeom prst="roundRect">
            <a:avLst/>
          </a:prstGeom>
          <a:solidFill>
            <a:srgbClr val="F5F7FB"/>
          </a:solidFill>
          <a:ln>
            <a:solidFill>
              <a:srgbClr val="E3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5488" y="2514600"/>
            <a:ext cx="1901952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1F2A44"/>
                </a:solidFill>
                <a:latin typeface="Calibri"/>
              </a:rPr>
              <a:t>Foundation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488" y="3017520"/>
            <a:ext cx="1901952" cy="2331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1F2A44"/>
                </a:solidFill>
                <a:latin typeface="Calibri"/>
              </a:rPr>
              <a:t>Data contracts spec'd · Semantic layer chosen · Privacy hire #1 · Hiring freeze on pipeline roles.</a:t>
            </a:r>
          </a:p>
        </p:txBody>
      </p:sp>
      <p:sp>
        <p:nvSpPr>
          <p:cNvPr id="13" name="Oval 12"/>
          <p:cNvSpPr/>
          <p:nvPr/>
        </p:nvSpPr>
        <p:spPr>
          <a:xfrm>
            <a:off x="3134106" y="1664208"/>
            <a:ext cx="329184" cy="329184"/>
          </a:xfrm>
          <a:prstGeom prst="ellipse">
            <a:avLst/>
          </a:prstGeom>
          <a:solidFill>
            <a:srgbClr val="1440A8"/>
          </a:solidFill>
          <a:ln>
            <a:solidFill>
              <a:srgbClr val="1440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750058" y="1280160"/>
            <a:ext cx="1097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1440A8"/>
                </a:solidFill>
                <a:latin typeface="Calibri"/>
              </a:rPr>
              <a:t>2027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237994" y="2788920"/>
            <a:ext cx="2121408" cy="3108960"/>
          </a:xfrm>
          <a:prstGeom prst="roundRect">
            <a:avLst/>
          </a:prstGeom>
          <a:solidFill>
            <a:srgbClr val="F5F7FB"/>
          </a:solidFill>
          <a:ln>
            <a:solidFill>
              <a:srgbClr val="E3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347722" y="2926080"/>
            <a:ext cx="1901952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1F2A44"/>
                </a:solidFill>
                <a:latin typeface="Calibri"/>
              </a:rPr>
              <a:t>Reskill + Agent Ops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347722" y="3429000"/>
            <a:ext cx="1901952" cy="2331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1F2A44"/>
                </a:solidFill>
                <a:latin typeface="Calibri"/>
              </a:rPr>
              <a:t>50% of team trained on declarative + AI ops · LLM eval harness live · Domain Product Owners embedded in 2 domains.</a:t>
            </a:r>
          </a:p>
        </p:txBody>
      </p:sp>
      <p:sp>
        <p:nvSpPr>
          <p:cNvPr id="18" name="Oval 17"/>
          <p:cNvSpPr/>
          <p:nvPr/>
        </p:nvSpPr>
        <p:spPr>
          <a:xfrm>
            <a:off x="5929883" y="1664208"/>
            <a:ext cx="329184" cy="329184"/>
          </a:xfrm>
          <a:prstGeom prst="ellipse">
            <a:avLst/>
          </a:prstGeom>
          <a:solidFill>
            <a:srgbClr val="1440A8"/>
          </a:solidFill>
          <a:ln>
            <a:solidFill>
              <a:srgbClr val="1440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545836" y="1280160"/>
            <a:ext cx="1097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1440A8"/>
                </a:solidFill>
                <a:latin typeface="Calibri"/>
              </a:rPr>
              <a:t>2028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033771" y="2377440"/>
            <a:ext cx="2121408" cy="3108960"/>
          </a:xfrm>
          <a:prstGeom prst="roundRect">
            <a:avLst/>
          </a:prstGeom>
          <a:solidFill>
            <a:srgbClr val="F5F7FB"/>
          </a:solidFill>
          <a:ln>
            <a:solidFill>
              <a:srgbClr val="E3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143499" y="2514600"/>
            <a:ext cx="1901952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1F2A44"/>
                </a:solidFill>
                <a:latin typeface="Calibri"/>
              </a:rPr>
              <a:t>Cross-Vendor Reasoning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43499" y="3017520"/>
            <a:ext cx="1901952" cy="2331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1F2A44"/>
                </a:solidFill>
                <a:latin typeface="Calibri"/>
              </a:rPr>
              <a:t>Bridge layer in production · 2 vendor catalogs federated · Vendor agentic features evaluated for buy-vs-build.</a:t>
            </a:r>
          </a:p>
        </p:txBody>
      </p:sp>
      <p:sp>
        <p:nvSpPr>
          <p:cNvPr id="23" name="Oval 22"/>
          <p:cNvSpPr/>
          <p:nvPr/>
        </p:nvSpPr>
        <p:spPr>
          <a:xfrm>
            <a:off x="8725662" y="1664208"/>
            <a:ext cx="329184" cy="329184"/>
          </a:xfrm>
          <a:prstGeom prst="ellipse">
            <a:avLst/>
          </a:prstGeom>
          <a:solidFill>
            <a:srgbClr val="1440A8"/>
          </a:solidFill>
          <a:ln>
            <a:solidFill>
              <a:srgbClr val="1440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341614" y="1280160"/>
            <a:ext cx="1097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1440A8"/>
                </a:solidFill>
                <a:latin typeface="Calibri"/>
              </a:rPr>
              <a:t>2029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829550" y="2788920"/>
            <a:ext cx="2121408" cy="3108960"/>
          </a:xfrm>
          <a:prstGeom prst="roundRect">
            <a:avLst/>
          </a:prstGeom>
          <a:solidFill>
            <a:srgbClr val="F5F7FB"/>
          </a:solidFill>
          <a:ln>
            <a:solidFill>
              <a:srgbClr val="E3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939277" y="2926080"/>
            <a:ext cx="1901952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1F2A44"/>
                </a:solidFill>
                <a:latin typeface="Calibri"/>
              </a:rPr>
              <a:t>Specialization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939277" y="3429000"/>
            <a:ext cx="1901952" cy="2331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1F2A44"/>
                </a:solidFill>
                <a:latin typeface="Calibri"/>
              </a:rPr>
              <a:t>Streaming + privacy + agent ops form 3 named tracks · Steward labor scaled · Top 100 questions fully automated.</a:t>
            </a:r>
          </a:p>
        </p:txBody>
      </p:sp>
      <p:sp>
        <p:nvSpPr>
          <p:cNvPr id="28" name="Oval 27"/>
          <p:cNvSpPr/>
          <p:nvPr/>
        </p:nvSpPr>
        <p:spPr>
          <a:xfrm>
            <a:off x="11521440" y="1664208"/>
            <a:ext cx="329184" cy="329184"/>
          </a:xfrm>
          <a:prstGeom prst="ellipse">
            <a:avLst/>
          </a:prstGeom>
          <a:solidFill>
            <a:srgbClr val="1440A8"/>
          </a:solidFill>
          <a:ln>
            <a:solidFill>
              <a:srgbClr val="1440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1137392" y="1280160"/>
            <a:ext cx="1097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1440A8"/>
                </a:solidFill>
                <a:latin typeface="Calibri"/>
              </a:rPr>
              <a:t>2030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701784" y="2377440"/>
            <a:ext cx="2121408" cy="3108960"/>
          </a:xfrm>
          <a:prstGeom prst="roundRect">
            <a:avLst/>
          </a:prstGeom>
          <a:solidFill>
            <a:srgbClr val="F5F7FB"/>
          </a:solidFill>
          <a:ln>
            <a:solidFill>
              <a:srgbClr val="E3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811511" y="2514600"/>
            <a:ext cx="1901952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1F2A44"/>
                </a:solidFill>
                <a:latin typeface="Calibri"/>
              </a:rPr>
              <a:t>Steady State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811511" y="3017520"/>
            <a:ext cx="1901952" cy="2331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1F2A44"/>
                </a:solidFill>
                <a:latin typeface="Calibri"/>
              </a:rPr>
              <a:t>Team is 60% top-tier roles · Cross-vendor moat established · DE = AI-governed data product engineering.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B55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>
                <a:solidFill>
                  <a:srgbClr val="1F2A44"/>
                </a:solidFill>
                <a:latin typeface="Calibri"/>
              </a:rPr>
              <a:t>2026: Foundation Year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7724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5607A"/>
                </a:solidFill>
                <a:latin typeface="Calibri"/>
              </a:rPr>
              <a:t>Lay the rails before the train arrives.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0" y="6446520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A"/>
                </a:solidFill>
                <a:latin typeface="Calibri"/>
              </a:rPr>
              <a:t>6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400800"/>
            <a:ext cx="11155680" cy="18288"/>
          </a:xfrm>
          <a:prstGeom prst="rect">
            <a:avLst/>
          </a:prstGeom>
          <a:solidFill>
            <a:srgbClr val="E3E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325880"/>
            <a:ext cx="5440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1F8055"/>
                </a:solidFill>
                <a:latin typeface="Calibri"/>
              </a:rPr>
              <a:t>Actions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737360"/>
            <a:ext cx="5440680" cy="2560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>
                <a:solidFill>
                  <a:srgbClr val="1F2A44"/>
                </a:solidFill>
                <a:latin typeface="Calibri"/>
              </a:rPr>
              <a:t>•  Adopt one semantic layer org-wide (Cube / dbt-MetricFlow / build) by Q1.</a:t>
            </a:r>
          </a:p>
          <a:p>
            <a:pPr algn="l">
              <a:spcAft>
                <a:spcPts val="600"/>
              </a:spcAft>
            </a:pPr>
            <a:r>
              <a:rPr sz="1300">
                <a:solidFill>
                  <a:srgbClr val="1F2A44"/>
                </a:solidFill>
                <a:latin typeface="Calibri"/>
              </a:rPr>
              <a:t>•  Spec data contracts (Open Data Contract Standard) for top 20 producer-consumer pairs.</a:t>
            </a:r>
          </a:p>
          <a:p>
            <a:pPr algn="l">
              <a:spcAft>
                <a:spcPts val="600"/>
              </a:spcAft>
            </a:pPr>
            <a:r>
              <a:rPr sz="1300">
                <a:solidFill>
                  <a:srgbClr val="1F2A44"/>
                </a:solidFill>
                <a:latin typeface="Calibri"/>
              </a:rPr>
              <a:t>•  Hire one privacy engineer — non-negotiable.</a:t>
            </a:r>
          </a:p>
          <a:p>
            <a:pPr algn="l">
              <a:spcAft>
                <a:spcPts val="600"/>
              </a:spcAft>
            </a:pPr>
            <a:r>
              <a:rPr sz="1300">
                <a:solidFill>
                  <a:srgbClr val="1F2A44"/>
                </a:solidFill>
                <a:latin typeface="Calibri"/>
              </a:rPr>
              <a:t>•  Freeze hiring on pure-pipeline roles.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4434840"/>
            <a:ext cx="5440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55607A"/>
                </a:solidFill>
                <a:latin typeface="Calibri"/>
              </a:rPr>
              <a:t>Constraints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4846320"/>
            <a:ext cx="5440680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>
                <a:solidFill>
                  <a:srgbClr val="1F2A44"/>
                </a:solidFill>
                <a:latin typeface="Calibri"/>
              </a:rPr>
              <a:t>•  $X M reskilling budget required.</a:t>
            </a:r>
          </a:p>
          <a:p>
            <a:pPr algn="l">
              <a:spcAft>
                <a:spcPts val="600"/>
              </a:spcAft>
            </a:pPr>
            <a:r>
              <a:rPr sz="1300">
                <a:solidFill>
                  <a:srgbClr val="1F2A44"/>
                </a:solidFill>
                <a:latin typeface="Calibri"/>
              </a:rPr>
              <a:t>•  6-month productivity dip during transition.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63640" y="1325880"/>
            <a:ext cx="5440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C1462C"/>
                </a:solidFill>
                <a:latin typeface="Calibri"/>
              </a:rPr>
              <a:t>Challenges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63640" y="1737360"/>
            <a:ext cx="5440680" cy="2560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>
                <a:solidFill>
                  <a:srgbClr val="1F2A44"/>
                </a:solidFill>
                <a:latin typeface="Calibri"/>
              </a:rPr>
              <a:t>•  Existing teams resist process change — "we already have Airflow."</a:t>
            </a:r>
          </a:p>
          <a:p>
            <a:pPr algn="l">
              <a:spcAft>
                <a:spcPts val="600"/>
              </a:spcAft>
            </a:pPr>
            <a:r>
              <a:rPr sz="1300">
                <a:solidFill>
                  <a:srgbClr val="1F2A44"/>
                </a:solidFill>
                <a:latin typeface="Calibri"/>
              </a:rPr>
              <a:t>•  Vendor pressure to commit early to Cortex / Genie.</a:t>
            </a:r>
          </a:p>
          <a:p>
            <a:pPr algn="l">
              <a:spcAft>
                <a:spcPts val="600"/>
              </a:spcAft>
            </a:pPr>
            <a:r>
              <a:rPr sz="1300">
                <a:solidFill>
                  <a:srgbClr val="1F2A44"/>
                </a:solidFill>
                <a:latin typeface="Calibri"/>
              </a:rPr>
              <a:t>•  Privacy talent supply is thin and expensive.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63640" y="4434840"/>
            <a:ext cx="5440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1440A8"/>
                </a:solidFill>
                <a:latin typeface="Calibri"/>
              </a:rPr>
              <a:t>Decisions needed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63640" y="4846320"/>
            <a:ext cx="5440680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>
                <a:solidFill>
                  <a:srgbClr val="1F2A44"/>
                </a:solidFill>
                <a:latin typeface="Calibri"/>
              </a:rPr>
              <a:t>•  Approve hiring freeze on pipeline-only JDs.</a:t>
            </a:r>
          </a:p>
          <a:p>
            <a:pPr algn="l">
              <a:spcAft>
                <a:spcPts val="600"/>
              </a:spcAft>
            </a:pPr>
            <a:r>
              <a:rPr sz="1300">
                <a:solidFill>
                  <a:srgbClr val="1F2A44"/>
                </a:solidFill>
                <a:latin typeface="Calibri"/>
              </a:rPr>
              <a:t>•  Approve $X M training budget.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B55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>
                <a:solidFill>
                  <a:srgbClr val="1F2A44"/>
                </a:solidFill>
                <a:latin typeface="Calibri"/>
              </a:rPr>
              <a:t>2027: Reskill + Agent Operations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7724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5607A"/>
                </a:solidFill>
                <a:latin typeface="Calibri"/>
              </a:rPr>
              <a:t>Stand up agent ops as a discipline.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0" y="6446520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A"/>
                </a:solidFill>
                <a:latin typeface="Calibri"/>
              </a:rPr>
              <a:t>7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400800"/>
            <a:ext cx="11155680" cy="18288"/>
          </a:xfrm>
          <a:prstGeom prst="rect">
            <a:avLst/>
          </a:prstGeom>
          <a:solidFill>
            <a:srgbClr val="E3E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325880"/>
            <a:ext cx="5440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1F8055"/>
                </a:solidFill>
                <a:latin typeface="Calibri"/>
              </a:rPr>
              <a:t>Actions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737360"/>
            <a:ext cx="5440680" cy="2560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>
                <a:solidFill>
                  <a:srgbClr val="1F2A44"/>
                </a:solidFill>
                <a:latin typeface="Calibri"/>
              </a:rPr>
              <a:t>•  Build LLM eval harness — regression test for prompt / model swaps.</a:t>
            </a:r>
          </a:p>
          <a:p>
            <a:pPr algn="l">
              <a:spcAft>
                <a:spcPts val="600"/>
              </a:spcAft>
            </a:pPr>
            <a:r>
              <a:rPr sz="1300">
                <a:solidFill>
                  <a:srgbClr val="1F2A44"/>
                </a:solidFill>
                <a:latin typeface="Calibri"/>
              </a:rPr>
              <a:t>•  Stand up vector DB + feature store as a platform service.</a:t>
            </a:r>
          </a:p>
          <a:p>
            <a:pPr algn="l">
              <a:spcAft>
                <a:spcPts val="600"/>
              </a:spcAft>
            </a:pPr>
            <a:r>
              <a:rPr sz="1300">
                <a:solidFill>
                  <a:srgbClr val="1F2A44"/>
                </a:solidFill>
                <a:latin typeface="Calibri"/>
              </a:rPr>
              <a:t>•  Promote 2-3 senior DEs to Data Product Owner roles, embed in domain teams.</a:t>
            </a:r>
          </a:p>
          <a:p>
            <a:pPr algn="l">
              <a:spcAft>
                <a:spcPts val="600"/>
              </a:spcAft>
            </a:pPr>
            <a:r>
              <a:rPr sz="1300">
                <a:solidFill>
                  <a:srgbClr val="1F2A44"/>
                </a:solidFill>
                <a:latin typeface="Calibri"/>
              </a:rPr>
              <a:t>•  Re-train 50% of team on semantic layer + graph + agent ops.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4434840"/>
            <a:ext cx="5440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55607A"/>
                </a:solidFill>
                <a:latin typeface="Calibri"/>
              </a:rPr>
              <a:t>Constraints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4846320"/>
            <a:ext cx="5440680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>
                <a:solidFill>
                  <a:srgbClr val="1F2A44"/>
                </a:solidFill>
                <a:latin typeface="Calibri"/>
              </a:rPr>
              <a:t>•  Cost-per-query budget enforcement needed.</a:t>
            </a:r>
          </a:p>
          <a:p>
            <a:pPr algn="l">
              <a:spcAft>
                <a:spcPts val="600"/>
              </a:spcAft>
            </a:pPr>
            <a:r>
              <a:rPr sz="1300">
                <a:solidFill>
                  <a:srgbClr val="1F2A44"/>
                </a:solidFill>
                <a:latin typeface="Calibri"/>
              </a:rPr>
              <a:t>•  Off-ramp plan for engineers who can't reskill.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63640" y="1325880"/>
            <a:ext cx="5440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C1462C"/>
                </a:solidFill>
                <a:latin typeface="Calibri"/>
              </a:rPr>
              <a:t>Challenges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63640" y="1737360"/>
            <a:ext cx="5440680" cy="2560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>
                <a:solidFill>
                  <a:srgbClr val="1F2A44"/>
                </a:solidFill>
                <a:latin typeface="Calibri"/>
              </a:rPr>
              <a:t>•  Eval harness is hard — no industry standard yet.</a:t>
            </a:r>
          </a:p>
          <a:p>
            <a:pPr algn="l">
              <a:spcAft>
                <a:spcPts val="600"/>
              </a:spcAft>
            </a:pPr>
            <a:r>
              <a:rPr sz="1300">
                <a:solidFill>
                  <a:srgbClr val="1F2A44"/>
                </a:solidFill>
                <a:latin typeface="Calibri"/>
              </a:rPr>
              <a:t>•  Senior DEs may resist becoming "the catalog steward."</a:t>
            </a:r>
          </a:p>
          <a:p>
            <a:pPr algn="l">
              <a:spcAft>
                <a:spcPts val="600"/>
              </a:spcAft>
            </a:pPr>
            <a:r>
              <a:rPr sz="1300">
                <a:solidFill>
                  <a:srgbClr val="1F2A44"/>
                </a:solidFill>
                <a:latin typeface="Calibri"/>
              </a:rPr>
              <a:t>•  AI vendor pricing volatility (~3x swings expected).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63640" y="4434840"/>
            <a:ext cx="5440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1440A8"/>
                </a:solidFill>
                <a:latin typeface="Calibri"/>
              </a:rPr>
              <a:t>Decisions needed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63640" y="4846320"/>
            <a:ext cx="5440680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>
                <a:solidFill>
                  <a:srgbClr val="1F2A44"/>
                </a:solidFill>
                <a:latin typeface="Calibri"/>
              </a:rPr>
              <a:t>•  Allocate 1-2 FTE to agent platform team.</a:t>
            </a:r>
          </a:p>
          <a:p>
            <a:pPr algn="l">
              <a:spcAft>
                <a:spcPts val="600"/>
              </a:spcAft>
            </a:pPr>
            <a:r>
              <a:rPr sz="1300">
                <a:solidFill>
                  <a:srgbClr val="1F2A44"/>
                </a:solidFill>
                <a:latin typeface="Calibri"/>
              </a:rPr>
              <a:t>•  Approve embedded-DE org model.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B55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>
                <a:solidFill>
                  <a:srgbClr val="1F2A44"/>
                </a:solidFill>
                <a:latin typeface="Calibri"/>
              </a:rPr>
              <a:t>2028: Cross-Vendor Reasoning Bridge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7724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5607A"/>
                </a:solidFill>
                <a:latin typeface="Calibri"/>
              </a:rPr>
              <a:t>Build the moat vendors won't.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0" y="6446520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A"/>
                </a:solidFill>
                <a:latin typeface="Calibri"/>
              </a:rPr>
              <a:t>8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400800"/>
            <a:ext cx="11155680" cy="18288"/>
          </a:xfrm>
          <a:prstGeom prst="rect">
            <a:avLst/>
          </a:prstGeom>
          <a:solidFill>
            <a:srgbClr val="E3E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325880"/>
            <a:ext cx="5440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1F8055"/>
                </a:solidFill>
                <a:latin typeface="Calibri"/>
              </a:rPr>
              <a:t>Actions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737360"/>
            <a:ext cx="5440680" cy="2560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>
                <a:solidFill>
                  <a:srgbClr val="1F2A44"/>
                </a:solidFill>
                <a:latin typeface="Calibri"/>
              </a:rPr>
              <a:t>•  Deploy cross-vendor ontology + translator service to production.</a:t>
            </a:r>
          </a:p>
          <a:p>
            <a:pPr algn="l">
              <a:spcAft>
                <a:spcPts val="600"/>
              </a:spcAft>
            </a:pPr>
            <a:r>
              <a:rPr sz="1300">
                <a:solidFill>
                  <a:srgbClr val="1F2A44"/>
                </a:solidFill>
                <a:latin typeface="Calibri"/>
              </a:rPr>
              <a:t>•  Federate top 3 source systems into the bridge.</a:t>
            </a:r>
          </a:p>
          <a:p>
            <a:pPr algn="l">
              <a:spcAft>
                <a:spcPts val="600"/>
              </a:spcAft>
            </a:pPr>
            <a:r>
              <a:rPr sz="1300">
                <a:solidFill>
                  <a:srgbClr val="1F2A44"/>
                </a:solidFill>
                <a:latin typeface="Calibri"/>
              </a:rPr>
              <a:t>•  Re-evaluate buy-vs-build per Snowflake / Databricks GA features.</a:t>
            </a:r>
          </a:p>
          <a:p>
            <a:pPr algn="l">
              <a:spcAft>
                <a:spcPts val="600"/>
              </a:spcAft>
            </a:pPr>
            <a:r>
              <a:rPr sz="1300">
                <a:solidFill>
                  <a:srgbClr val="1F2A44"/>
                </a:solidFill>
                <a:latin typeface="Calibri"/>
              </a:rPr>
              <a:t>•  Stand up steward labor (3-5 FTE or outsourced) to keep ontology current.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4434840"/>
            <a:ext cx="5440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55607A"/>
                </a:solidFill>
                <a:latin typeface="Calibri"/>
              </a:rPr>
              <a:t>Constraints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4846320"/>
            <a:ext cx="5440680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>
                <a:solidFill>
                  <a:srgbClr val="1F2A44"/>
                </a:solidFill>
                <a:latin typeface="Calibri"/>
              </a:rPr>
              <a:t>•  Bridge cannot replace existing catalog (Collibra / Alation) — must augment.</a:t>
            </a:r>
          </a:p>
          <a:p>
            <a:pPr algn="l">
              <a:spcAft>
                <a:spcPts val="600"/>
              </a:spcAft>
            </a:pPr>
            <a:r>
              <a:rPr sz="1300">
                <a:solidFill>
                  <a:srgbClr val="1F2A44"/>
                </a:solidFill>
                <a:latin typeface="Calibri"/>
              </a:rPr>
              <a:t>•  Multi-vendor SLA orchestration required.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63640" y="1325880"/>
            <a:ext cx="5440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C1462C"/>
                </a:solidFill>
                <a:latin typeface="Calibri"/>
              </a:rPr>
              <a:t>Challenges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63640" y="1737360"/>
            <a:ext cx="5440680" cy="2560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>
                <a:solidFill>
                  <a:srgbClr val="1F2A44"/>
                </a:solidFill>
                <a:latin typeface="Calibri"/>
              </a:rPr>
              <a:t>•  Vendors may ship "good enough" cross-warehouse features.</a:t>
            </a:r>
          </a:p>
          <a:p>
            <a:pPr algn="l">
              <a:spcAft>
                <a:spcPts val="600"/>
              </a:spcAft>
            </a:pPr>
            <a:r>
              <a:rPr sz="1300">
                <a:solidFill>
                  <a:srgbClr val="1F2A44"/>
                </a:solidFill>
                <a:latin typeface="Calibri"/>
              </a:rPr>
              <a:t>•  Steward labor cost is sustained, not one-time.</a:t>
            </a:r>
          </a:p>
          <a:p>
            <a:pPr algn="l">
              <a:spcAft>
                <a:spcPts val="600"/>
              </a:spcAft>
            </a:pPr>
            <a:r>
              <a:rPr sz="1300">
                <a:solidFill>
                  <a:srgbClr val="1F2A44"/>
                </a:solidFill>
                <a:latin typeface="Calibri"/>
              </a:rPr>
              <a:t>•  Cross-vendor latency (10-30s) hard to defend vs static reports.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63640" y="4434840"/>
            <a:ext cx="5440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1440A8"/>
                </a:solidFill>
                <a:latin typeface="Calibri"/>
              </a:rPr>
              <a:t>Decisions needed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63640" y="4846320"/>
            <a:ext cx="5440680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>
                <a:solidFill>
                  <a:srgbClr val="1F2A44"/>
                </a:solidFill>
                <a:latin typeface="Calibri"/>
              </a:rPr>
              <a:t>•  Build bridge or wait for vendor — re-decide each quarter.</a:t>
            </a:r>
          </a:p>
          <a:p>
            <a:pPr algn="l">
              <a:spcAft>
                <a:spcPts val="600"/>
              </a:spcAft>
            </a:pPr>
            <a:r>
              <a:rPr sz="1300">
                <a:solidFill>
                  <a:srgbClr val="1F2A44"/>
                </a:solidFill>
                <a:latin typeface="Calibri"/>
              </a:rPr>
              <a:t>•  Steward FTE count + level.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B55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>
                <a:solidFill>
                  <a:srgbClr val="1F2A44"/>
                </a:solidFill>
                <a:latin typeface="Calibri"/>
              </a:rPr>
              <a:t>2029: Specialization Tracks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7724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5607A"/>
                </a:solidFill>
                <a:latin typeface="Calibri"/>
              </a:rPr>
              <a:t>Three named career tracks emerge — supply chases demand.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0" y="6446520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A"/>
                </a:solidFill>
                <a:latin typeface="Calibri"/>
              </a:rPr>
              <a:t>9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400800"/>
            <a:ext cx="11155680" cy="18288"/>
          </a:xfrm>
          <a:prstGeom prst="rect">
            <a:avLst/>
          </a:prstGeom>
          <a:solidFill>
            <a:srgbClr val="E3E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502920" y="1508760"/>
            <a:ext cx="594360" cy="594360"/>
          </a:xfrm>
          <a:prstGeom prst="ellipse">
            <a:avLst/>
          </a:prstGeom>
          <a:solidFill>
            <a:srgbClr val="1F80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517904"/>
            <a:ext cx="59436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Track A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234440" y="1371600"/>
            <a:ext cx="10424160" cy="1188720"/>
          </a:xfrm>
          <a:prstGeom prst="roundRect">
            <a:avLst/>
          </a:prstGeom>
          <a:solidFill>
            <a:srgbClr val="F5F7FB"/>
          </a:solidFill>
          <a:ln>
            <a:solidFill>
              <a:srgbClr val="E3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417320" y="1463040"/>
            <a:ext cx="7772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1F2A44"/>
                </a:solidFill>
                <a:latin typeface="Calibri"/>
              </a:rPr>
              <a:t>Streaming + Reliability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17320" y="1874519"/>
            <a:ext cx="7772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55607A"/>
                </a:solidFill>
                <a:latin typeface="Calibri"/>
              </a:rPr>
              <a:t>Exactly-once, watermarking, schema evolution, data SLOs.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17320" y="2240280"/>
            <a:ext cx="7772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1F8055"/>
                </a:solidFill>
                <a:latin typeface="Calibri"/>
              </a:rPr>
              <a:t>Hardest to automate. Highest comp.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515600" y="1737360"/>
            <a:ext cx="1005840" cy="292608"/>
          </a:xfrm>
          <a:prstGeom prst="roundRect">
            <a:avLst/>
          </a:prstGeom>
          <a:solidFill>
            <a:srgbClr val="1F80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80000" rIns="80000" tIns="20000" bIns="20000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~20%</a:t>
            </a:r>
          </a:p>
        </p:txBody>
      </p:sp>
      <p:sp>
        <p:nvSpPr>
          <p:cNvPr id="14" name="Oval 13"/>
          <p:cNvSpPr/>
          <p:nvPr/>
        </p:nvSpPr>
        <p:spPr>
          <a:xfrm>
            <a:off x="502920" y="2880360"/>
            <a:ext cx="594360" cy="594360"/>
          </a:xfrm>
          <a:prstGeom prst="ellipse">
            <a:avLst/>
          </a:prstGeom>
          <a:solidFill>
            <a:srgbClr val="1B55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2920" y="2889504"/>
            <a:ext cx="59436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Track B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234440" y="2743200"/>
            <a:ext cx="10424160" cy="1188720"/>
          </a:xfrm>
          <a:prstGeom prst="roundRect">
            <a:avLst/>
          </a:prstGeom>
          <a:solidFill>
            <a:srgbClr val="F5F7FB"/>
          </a:solidFill>
          <a:ln>
            <a:solidFill>
              <a:srgbClr val="E3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417320" y="2834640"/>
            <a:ext cx="7772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1F2A44"/>
                </a:solidFill>
                <a:latin typeface="Calibri"/>
              </a:rPr>
              <a:t>Privacy + Governance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17320" y="3246120"/>
            <a:ext cx="7772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55607A"/>
                </a:solidFill>
                <a:latin typeface="Calibri"/>
              </a:rPr>
              <a:t>Differential privacy, tokenization, federated compute, residency routing.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17320" y="3611880"/>
            <a:ext cx="7772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1B55E0"/>
                </a:solidFill>
                <a:latin typeface="Calibri"/>
              </a:rPr>
              <a:t>Demand exceeds supply through decade.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0515600" y="3108960"/>
            <a:ext cx="1005840" cy="292608"/>
          </a:xfrm>
          <a:prstGeom prst="roundRect">
            <a:avLst/>
          </a:prstGeom>
          <a:solidFill>
            <a:srgbClr val="1B55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80000" rIns="80000" tIns="20000" bIns="20000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~15%</a:t>
            </a:r>
          </a:p>
        </p:txBody>
      </p:sp>
      <p:sp>
        <p:nvSpPr>
          <p:cNvPr id="21" name="Oval 20"/>
          <p:cNvSpPr/>
          <p:nvPr/>
        </p:nvSpPr>
        <p:spPr>
          <a:xfrm>
            <a:off x="502920" y="4251960"/>
            <a:ext cx="594360" cy="594360"/>
          </a:xfrm>
          <a:prstGeom prst="ellipse">
            <a:avLst/>
          </a:prstGeom>
          <a:solidFill>
            <a:srgbClr val="1440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2920" y="4261104"/>
            <a:ext cx="59436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Track C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234440" y="4114800"/>
            <a:ext cx="10424160" cy="1188720"/>
          </a:xfrm>
          <a:prstGeom prst="roundRect">
            <a:avLst/>
          </a:prstGeom>
          <a:solidFill>
            <a:srgbClr val="F5F7FB"/>
          </a:solidFill>
          <a:ln>
            <a:solidFill>
              <a:srgbClr val="E3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417320" y="4206240"/>
            <a:ext cx="7772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1F2A44"/>
                </a:solidFill>
                <a:latin typeface="Calibri"/>
              </a:rPr>
              <a:t>Agent + Platform Ops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417320" y="4617720"/>
            <a:ext cx="7772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55607A"/>
                </a:solidFill>
                <a:latin typeface="Calibri"/>
              </a:rPr>
              <a:t>LLM ops, ontology stewardship, semantic-layer engineering, cost optimization.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417320" y="4983480"/>
            <a:ext cx="7772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1440A8"/>
                </a:solidFill>
                <a:latin typeface="Calibri"/>
              </a:rPr>
              <a:t>Newest discipline; promote-from-within bias.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0515600" y="4480560"/>
            <a:ext cx="1005840" cy="292608"/>
          </a:xfrm>
          <a:prstGeom prst="roundRect">
            <a:avLst/>
          </a:prstGeom>
          <a:solidFill>
            <a:srgbClr val="1440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80000" rIns="80000" tIns="20000" bIns="20000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~25%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2920" y="5303520"/>
            <a:ext cx="11155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55607A"/>
                </a:solidFill>
                <a:latin typeface="Calibri"/>
              </a:rPr>
              <a:t>Plus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02920" y="5669280"/>
            <a:ext cx="1115568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>
                <a:solidFill>
                  <a:srgbClr val="1F2A44"/>
                </a:solidFill>
                <a:latin typeface="Calibri"/>
              </a:rPr>
              <a:t>•  Domain Product Owners (~15%) — embedded, not central.</a:t>
            </a:r>
          </a:p>
          <a:p>
            <a:pPr algn="l">
              <a:spcAft>
                <a:spcPts val="600"/>
              </a:spcAft>
            </a:pPr>
            <a:r>
              <a:rPr sz="1300">
                <a:solidFill>
                  <a:srgbClr val="1F2A44"/>
                </a:solidFill>
                <a:latin typeface="Calibri"/>
              </a:rPr>
              <a:t>•  Routine pipeline + DQ (~25%) — outsourced or auto-managed by 2030.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B55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>
                <a:solidFill>
                  <a:srgbClr val="1F2A44"/>
                </a:solidFill>
                <a:latin typeface="Calibri"/>
              </a:rPr>
              <a:t>2030: Steady-State Org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7724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5607A"/>
                </a:solidFill>
                <a:latin typeface="Calibri"/>
              </a:rPr>
              <a:t>What the team looks like at the end of the arc.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0" y="6446520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A"/>
                </a:solidFill>
                <a:latin typeface="Calibri"/>
              </a:rPr>
              <a:t>10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400800"/>
            <a:ext cx="11155680" cy="18288"/>
          </a:xfrm>
          <a:prstGeom prst="rect">
            <a:avLst/>
          </a:prstGeom>
          <a:solidFill>
            <a:srgbClr val="E3E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02920" y="1371600"/>
          <a:ext cx="658368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08960"/>
                <a:gridCol w="1188720"/>
                <a:gridCol w="2286000"/>
              </a:tblGrid>
              <a:tr h="548640">
                <a:tc>
                  <a:txBody>
                    <a:bodyPr lIns="60000" rIns="60000" tIns="40000" bIns="40000"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Role bucket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  <a:tc>
                  <a:txBody>
                    <a:bodyPr lIns="60000" rIns="60000" tIns="40000" bIns="40000"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Share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  <a:tc>
                  <a:txBody>
                    <a:bodyPr lIns="60000" rIns="60000" tIns="40000" bIns="40000"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Notes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</a:tr>
              <a:tr h="548640">
                <a:tc>
                  <a:txBody>
                    <a:bodyPr lIns="60000" rIns="60000" tIns="30000" bIns="30000" wrap="square"/>
                    <a:lstStyle/>
                    <a:p>
                      <a:pPr algn="l"/>
                      <a:r>
                        <a:rPr sz="1300">
                          <a:solidFill>
                            <a:srgbClr val="1F2A44"/>
                          </a:solidFill>
                          <a:latin typeface="Calibri"/>
                        </a:rPr>
                        <a:t>Streaming + Reliability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60000" rIns="60000" tIns="30000" bIns="30000" wrap="square"/>
                    <a:lstStyle/>
                    <a:p>
                      <a:pPr algn="l"/>
                      <a:r>
                        <a:rPr sz="1300">
                          <a:solidFill>
                            <a:srgbClr val="1F2A44"/>
                          </a:solidFill>
                          <a:latin typeface="Calibri"/>
                        </a:rPr>
                        <a:t>20%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60000" rIns="60000" tIns="30000" bIns="30000" wrap="square"/>
                    <a:lstStyle/>
                    <a:p>
                      <a:pPr algn="l"/>
                      <a:r>
                        <a:rPr sz="1300">
                          <a:solidFill>
                            <a:srgbClr val="1F2A44"/>
                          </a:solidFill>
                          <a:latin typeface="Calibri"/>
                        </a:rPr>
                        <a:t>Hardest to automate. Top comp.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lIns="60000" rIns="60000" tIns="30000" bIns="30000" wrap="square"/>
                    <a:lstStyle/>
                    <a:p>
                      <a:pPr algn="l"/>
                      <a:r>
                        <a:rPr sz="1300">
                          <a:solidFill>
                            <a:srgbClr val="1F2A44"/>
                          </a:solidFill>
                          <a:latin typeface="Calibri"/>
                        </a:rPr>
                        <a:t>Privacy + Governance</a:t>
                      </a:r>
                    </a:p>
                  </a:txBody>
                  <a:tcPr>
                    <a:solidFill>
                      <a:srgbClr val="F5F7FB"/>
                    </a:solidFill>
                  </a:tcPr>
                </a:tc>
                <a:tc>
                  <a:txBody>
                    <a:bodyPr lIns="60000" rIns="60000" tIns="30000" bIns="30000" wrap="square"/>
                    <a:lstStyle/>
                    <a:p>
                      <a:pPr algn="l"/>
                      <a:r>
                        <a:rPr sz="1300">
                          <a:solidFill>
                            <a:srgbClr val="1F2A44"/>
                          </a:solidFill>
                          <a:latin typeface="Calibri"/>
                        </a:rPr>
                        <a:t>15%</a:t>
                      </a:r>
                    </a:p>
                  </a:txBody>
                  <a:tcPr>
                    <a:solidFill>
                      <a:srgbClr val="F5F7FB"/>
                    </a:solidFill>
                  </a:tcPr>
                </a:tc>
                <a:tc>
                  <a:txBody>
                    <a:bodyPr lIns="60000" rIns="60000" tIns="30000" bIns="30000" wrap="square"/>
                    <a:lstStyle/>
                    <a:p>
                      <a:pPr algn="l"/>
                      <a:r>
                        <a:rPr sz="1300">
                          <a:solidFill>
                            <a:srgbClr val="1F2A44"/>
                          </a:solidFill>
                          <a:latin typeface="Calibri"/>
                        </a:rPr>
                        <a:t>Supply-constrained through decade.</a:t>
                      </a:r>
                    </a:p>
                  </a:txBody>
                  <a:tcPr>
                    <a:solidFill>
                      <a:srgbClr val="F5F7FB"/>
                    </a:solidFill>
                  </a:tcPr>
                </a:tc>
              </a:tr>
              <a:tr h="548640">
                <a:tc>
                  <a:txBody>
                    <a:bodyPr lIns="60000" rIns="60000" tIns="30000" bIns="30000" wrap="square"/>
                    <a:lstStyle/>
                    <a:p>
                      <a:pPr algn="l"/>
                      <a:r>
                        <a:rPr sz="1300">
                          <a:solidFill>
                            <a:srgbClr val="1F2A44"/>
                          </a:solidFill>
                          <a:latin typeface="Calibri"/>
                        </a:rPr>
                        <a:t>Agent + Platform Ops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60000" rIns="60000" tIns="30000" bIns="30000" wrap="square"/>
                    <a:lstStyle/>
                    <a:p>
                      <a:pPr algn="l"/>
                      <a:r>
                        <a:rPr sz="1300">
                          <a:solidFill>
                            <a:srgbClr val="1F2A44"/>
                          </a:solidFill>
                          <a:latin typeface="Calibri"/>
                        </a:rPr>
                        <a:t>25%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60000" rIns="60000" tIns="30000" bIns="30000" wrap="square"/>
                    <a:lstStyle/>
                    <a:p>
                      <a:pPr algn="l"/>
                      <a:r>
                        <a:rPr sz="1300">
                          <a:solidFill>
                            <a:srgbClr val="1F2A44"/>
                          </a:solidFill>
                          <a:latin typeface="Calibri"/>
                        </a:rPr>
                        <a:t>Largest growth tier.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lIns="60000" rIns="60000" tIns="30000" bIns="30000" wrap="square"/>
                    <a:lstStyle/>
                    <a:p>
                      <a:pPr algn="l"/>
                      <a:r>
                        <a:rPr sz="1300">
                          <a:solidFill>
                            <a:srgbClr val="1F2A44"/>
                          </a:solidFill>
                          <a:latin typeface="Calibri"/>
                        </a:rPr>
                        <a:t>Domain Product Owners</a:t>
                      </a:r>
                    </a:p>
                  </a:txBody>
                  <a:tcPr>
                    <a:solidFill>
                      <a:srgbClr val="F5F7FB"/>
                    </a:solidFill>
                  </a:tcPr>
                </a:tc>
                <a:tc>
                  <a:txBody>
                    <a:bodyPr lIns="60000" rIns="60000" tIns="30000" bIns="30000" wrap="square"/>
                    <a:lstStyle/>
                    <a:p>
                      <a:pPr algn="l"/>
                      <a:r>
                        <a:rPr sz="1300">
                          <a:solidFill>
                            <a:srgbClr val="1F2A44"/>
                          </a:solidFill>
                          <a:latin typeface="Calibri"/>
                        </a:rPr>
                        <a:t>15%</a:t>
                      </a:r>
                    </a:p>
                  </a:txBody>
                  <a:tcPr>
                    <a:solidFill>
                      <a:srgbClr val="F5F7FB"/>
                    </a:solidFill>
                  </a:tcPr>
                </a:tc>
                <a:tc>
                  <a:txBody>
                    <a:bodyPr lIns="60000" rIns="60000" tIns="30000" bIns="30000" wrap="square"/>
                    <a:lstStyle/>
                    <a:p>
                      <a:pPr algn="l"/>
                      <a:r>
                        <a:rPr sz="1300">
                          <a:solidFill>
                            <a:srgbClr val="1F2A44"/>
                          </a:solidFill>
                          <a:latin typeface="Calibri"/>
                        </a:rPr>
                        <a:t>Embedded with business.</a:t>
                      </a:r>
                    </a:p>
                  </a:txBody>
                  <a:tcPr>
                    <a:solidFill>
                      <a:srgbClr val="F5F7FB"/>
                    </a:solidFill>
                  </a:tcPr>
                </a:tc>
              </a:tr>
              <a:tr h="548640">
                <a:tc>
                  <a:txBody>
                    <a:bodyPr lIns="60000" rIns="60000" tIns="30000" bIns="30000" wrap="square"/>
                    <a:lstStyle/>
                    <a:p>
                      <a:pPr algn="l"/>
                      <a:r>
                        <a:rPr sz="1300">
                          <a:solidFill>
                            <a:srgbClr val="1F2A44"/>
                          </a:solidFill>
                          <a:latin typeface="Calibri"/>
                        </a:rPr>
                        <a:t>Pipeline Ops (lean)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60000" rIns="60000" tIns="30000" bIns="30000" wrap="square"/>
                    <a:lstStyle/>
                    <a:p>
                      <a:pPr algn="l"/>
                      <a:r>
                        <a:rPr sz="1300">
                          <a:solidFill>
                            <a:srgbClr val="1F2A44"/>
                          </a:solidFill>
                          <a:latin typeface="Calibri"/>
                        </a:rPr>
                        <a:t>25%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60000" rIns="60000" tIns="30000" bIns="30000" wrap="square"/>
                    <a:lstStyle/>
                    <a:p>
                      <a:pPr algn="l"/>
                      <a:r>
                        <a:rPr sz="1300">
                          <a:solidFill>
                            <a:srgbClr val="1F2A44"/>
                          </a:solidFill>
                          <a:latin typeface="Calibri"/>
                        </a:rPr>
                        <a:t>Mostly auto-managed by then.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7315200" y="1371600"/>
            <a:ext cx="4370832" cy="4572000"/>
          </a:xfrm>
          <a:prstGeom prst="roundRect">
            <a:avLst/>
          </a:prstGeom>
          <a:solidFill>
            <a:srgbClr val="ECF3FF"/>
          </a:solidFill>
          <a:ln>
            <a:solidFill>
              <a:srgbClr val="1B5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98079" y="1508760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1440A8"/>
                </a:solidFill>
                <a:latin typeface="Calibri"/>
              </a:rPr>
              <a:t>Defining trait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79" y="1874519"/>
            <a:ext cx="4114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1F2A44"/>
                </a:solidFill>
                <a:latin typeface="Calibri"/>
              </a:rPr>
              <a:t>The team's primary job is making AI behave responsibly on our data.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98079" y="2926080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1440A8"/>
                </a:solidFill>
                <a:latin typeface="Calibri"/>
              </a:rPr>
              <a:t>What we own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79" y="3291840"/>
            <a:ext cx="411480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1F2A44"/>
                </a:solidFill>
                <a:latin typeface="Calibri"/>
              </a:rPr>
              <a:t>The bridge between business intent and physical data, the governance loop around it, and the cost of running both.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98079" y="4754880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C1462C"/>
                </a:solidFill>
                <a:latin typeface="Calibri"/>
              </a:rPr>
              <a:t>What we don't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98079" y="5120640"/>
            <a:ext cx="4114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1F2A44"/>
                </a:solidFill>
                <a:latin typeface="Calibri"/>
              </a:rPr>
              <a:t>Writing pipelines, writing routine SQL, hand-cataloging.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B55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>
                <a:solidFill>
                  <a:srgbClr val="1F2A44"/>
                </a:solidFill>
                <a:latin typeface="Calibri"/>
              </a:rPr>
              <a:t>Hiring &amp; Skill Matrix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7724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5607A"/>
                </a:solidFill>
                <a:latin typeface="Calibri"/>
              </a:rPr>
              <a:t>Where to hire over the next three years.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0" y="6446520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A"/>
                </a:solidFill>
                <a:latin typeface="Calibri"/>
              </a:rPr>
              <a:t>11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400800"/>
            <a:ext cx="11155680" cy="18288"/>
          </a:xfrm>
          <a:prstGeom prst="rect">
            <a:avLst/>
          </a:prstGeom>
          <a:solidFill>
            <a:srgbClr val="E3E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02920" y="1325880"/>
          <a:ext cx="1115568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23360"/>
                <a:gridCol w="1280160"/>
                <a:gridCol w="1280160"/>
                <a:gridCol w="1463040"/>
                <a:gridCol w="3108960"/>
              </a:tblGrid>
              <a:tr h="457200">
                <a:tc>
                  <a:txBody>
                    <a:bodyPr lIns="60000" rIns="60000" tIns="40000" bIns="40000"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Role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  <a:tc>
                  <a:txBody>
                    <a:bodyPr lIns="60000" rIns="60000" tIns="40000" bIns="40000"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2026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  <a:tc>
                  <a:txBody>
                    <a:bodyPr lIns="60000" rIns="60000" tIns="40000" bIns="40000"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2027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  <a:tc>
                  <a:txBody>
                    <a:bodyPr lIns="60000" rIns="60000" tIns="40000" bIns="40000"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2028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  <a:tc>
                  <a:txBody>
                    <a:bodyPr lIns="60000" rIns="60000" tIns="40000" bIns="40000"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Comp band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</a:tr>
              <a:tr h="457200">
                <a:tc>
                  <a:txBody>
                    <a:bodyPr lIns="60000" rIns="60000" tIns="30000" bIns="30000" wrap="square"/>
                    <a:lstStyle/>
                    <a:p>
                      <a:pPr algn="l"/>
                      <a:r>
                        <a:rPr sz="1200">
                          <a:solidFill>
                            <a:srgbClr val="1F2A44"/>
                          </a:solidFill>
                          <a:latin typeface="Calibri"/>
                        </a:rPr>
                        <a:t>Privacy Engineer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60000" rIns="60000" tIns="30000" bIns="30000" wrap="square"/>
                    <a:lstStyle/>
                    <a:p>
                      <a:pPr algn="l"/>
                      <a:r>
                        <a:rPr sz="1200">
                          <a:solidFill>
                            <a:srgbClr val="1F2A44"/>
                          </a:solidFill>
                          <a:latin typeface="Calibri"/>
                        </a:rPr>
                        <a:t>+1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60000" rIns="60000" tIns="30000" bIns="30000" wrap="square"/>
                    <a:lstStyle/>
                    <a:p>
                      <a:pPr algn="l"/>
                      <a:r>
                        <a:rPr sz="1200">
                          <a:solidFill>
                            <a:srgbClr val="1F2A44"/>
                          </a:solidFill>
                          <a:latin typeface="Calibri"/>
                        </a:rPr>
                        <a:t>+1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60000" rIns="60000" tIns="30000" bIns="30000" wrap="square"/>
                    <a:lstStyle/>
                    <a:p>
                      <a:pPr algn="l"/>
                      <a:r>
                        <a:rPr sz="1200">
                          <a:solidFill>
                            <a:srgbClr val="1F2A44"/>
                          </a:solidFill>
                          <a:latin typeface="Calibri"/>
                        </a:rPr>
                        <a:t>+1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60000" rIns="60000" tIns="30000" bIns="30000" wrap="square"/>
                    <a:lstStyle/>
                    <a:p>
                      <a:pPr algn="l"/>
                      <a:r>
                        <a:rPr sz="1200">
                          <a:solidFill>
                            <a:srgbClr val="1F2A44"/>
                          </a:solidFill>
                          <a:latin typeface="Calibri"/>
                        </a:rPr>
                        <a:t>High, growing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lIns="60000" rIns="60000" tIns="30000" bIns="30000" wrap="square"/>
                    <a:lstStyle/>
                    <a:p>
                      <a:pPr algn="l"/>
                      <a:r>
                        <a:rPr sz="1200">
                          <a:solidFill>
                            <a:srgbClr val="1F2A44"/>
                          </a:solidFill>
                          <a:latin typeface="Calibri"/>
                        </a:rPr>
                        <a:t>Streaming Engineer</a:t>
                      </a:r>
                    </a:p>
                  </a:txBody>
                  <a:tcPr>
                    <a:solidFill>
                      <a:srgbClr val="F5F7FB"/>
                    </a:solidFill>
                  </a:tcPr>
                </a:tc>
                <a:tc>
                  <a:txBody>
                    <a:bodyPr lIns="60000" rIns="60000" tIns="30000" bIns="30000" wrap="square"/>
                    <a:lstStyle/>
                    <a:p>
                      <a:pPr algn="l"/>
                      <a:r>
                        <a:rPr sz="1200">
                          <a:solidFill>
                            <a:srgbClr val="1F2A44"/>
                          </a:solidFill>
                          <a:latin typeface="Calibri"/>
                        </a:rPr>
                        <a:t>+0</a:t>
                      </a:r>
                    </a:p>
                  </a:txBody>
                  <a:tcPr>
                    <a:solidFill>
                      <a:srgbClr val="F5F7FB"/>
                    </a:solidFill>
                  </a:tcPr>
                </a:tc>
                <a:tc>
                  <a:txBody>
                    <a:bodyPr lIns="60000" rIns="60000" tIns="30000" bIns="30000" wrap="square"/>
                    <a:lstStyle/>
                    <a:p>
                      <a:pPr algn="l"/>
                      <a:r>
                        <a:rPr sz="1200">
                          <a:solidFill>
                            <a:srgbClr val="1F2A44"/>
                          </a:solidFill>
                          <a:latin typeface="Calibri"/>
                        </a:rPr>
                        <a:t>+1</a:t>
                      </a:r>
                    </a:p>
                  </a:txBody>
                  <a:tcPr>
                    <a:solidFill>
                      <a:srgbClr val="F5F7FB"/>
                    </a:solidFill>
                  </a:tcPr>
                </a:tc>
                <a:tc>
                  <a:txBody>
                    <a:bodyPr lIns="60000" rIns="60000" tIns="30000" bIns="30000" wrap="square"/>
                    <a:lstStyle/>
                    <a:p>
                      <a:pPr algn="l"/>
                      <a:r>
                        <a:rPr sz="1200">
                          <a:solidFill>
                            <a:srgbClr val="1F2A44"/>
                          </a:solidFill>
                          <a:latin typeface="Calibri"/>
                        </a:rPr>
                        <a:t>+1</a:t>
                      </a:r>
                    </a:p>
                  </a:txBody>
                  <a:tcPr>
                    <a:solidFill>
                      <a:srgbClr val="F5F7FB"/>
                    </a:solidFill>
                  </a:tcPr>
                </a:tc>
                <a:tc>
                  <a:txBody>
                    <a:bodyPr lIns="60000" rIns="60000" tIns="30000" bIns="30000" wrap="square"/>
                    <a:lstStyle/>
                    <a:p>
                      <a:pPr algn="l"/>
                      <a:r>
                        <a:rPr sz="1200">
                          <a:solidFill>
                            <a:srgbClr val="1F2A44"/>
                          </a:solidFill>
                          <a:latin typeface="Calibri"/>
                        </a:rPr>
                        <a:t>Highest, scarce</a:t>
                      </a:r>
                    </a:p>
                  </a:txBody>
                  <a:tcPr>
                    <a:solidFill>
                      <a:srgbClr val="F5F7FB"/>
                    </a:solidFill>
                  </a:tcPr>
                </a:tc>
              </a:tr>
              <a:tr h="457200">
                <a:tc>
                  <a:txBody>
                    <a:bodyPr lIns="60000" rIns="60000" tIns="30000" bIns="30000" wrap="square"/>
                    <a:lstStyle/>
                    <a:p>
                      <a:pPr algn="l"/>
                      <a:r>
                        <a:rPr sz="1200">
                          <a:solidFill>
                            <a:srgbClr val="1F2A44"/>
                          </a:solidFill>
                          <a:latin typeface="Calibri"/>
                        </a:rPr>
                        <a:t>Data Product Owner (senior DE)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60000" rIns="60000" tIns="30000" bIns="30000" wrap="square"/>
                    <a:lstStyle/>
                    <a:p>
                      <a:pPr algn="l"/>
                      <a:r>
                        <a:rPr sz="1200">
                          <a:solidFill>
                            <a:srgbClr val="1F2A44"/>
                          </a:solidFill>
                          <a:latin typeface="Calibri"/>
                        </a:rPr>
                        <a:t>+2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60000" rIns="60000" tIns="30000" bIns="30000" wrap="square"/>
                    <a:lstStyle/>
                    <a:p>
                      <a:pPr algn="l"/>
                      <a:r>
                        <a:rPr sz="1200">
                          <a:solidFill>
                            <a:srgbClr val="1F2A44"/>
                          </a:solidFill>
                          <a:latin typeface="Calibri"/>
                        </a:rPr>
                        <a:t>+3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60000" rIns="60000" tIns="30000" bIns="30000" wrap="square"/>
                    <a:lstStyle/>
                    <a:p>
                      <a:pPr algn="l"/>
                      <a:r>
                        <a:rPr sz="1200">
                          <a:solidFill>
                            <a:srgbClr val="1F2A44"/>
                          </a:solidFill>
                          <a:latin typeface="Calibri"/>
                        </a:rPr>
                        <a:t>+3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60000" rIns="60000" tIns="30000" bIns="30000" wrap="square"/>
                    <a:lstStyle/>
                    <a:p>
                      <a:pPr algn="l"/>
                      <a:r>
                        <a:rPr sz="1200">
                          <a:solidFill>
                            <a:srgbClr val="1F2A44"/>
                          </a:solidFill>
                          <a:latin typeface="Calibri"/>
                        </a:rPr>
                        <a:t>High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lIns="60000" rIns="60000" tIns="30000" bIns="30000" wrap="square"/>
                    <a:lstStyle/>
                    <a:p>
                      <a:pPr algn="l"/>
                      <a:r>
                        <a:rPr sz="1200">
                          <a:solidFill>
                            <a:srgbClr val="1F2A44"/>
                          </a:solidFill>
                          <a:latin typeface="Calibri"/>
                        </a:rPr>
                        <a:t>Agent Platform Engineer</a:t>
                      </a:r>
                    </a:p>
                  </a:txBody>
                  <a:tcPr>
                    <a:solidFill>
                      <a:srgbClr val="F5F7FB"/>
                    </a:solidFill>
                  </a:tcPr>
                </a:tc>
                <a:tc>
                  <a:txBody>
                    <a:bodyPr lIns="60000" rIns="60000" tIns="30000" bIns="30000" wrap="square"/>
                    <a:lstStyle/>
                    <a:p>
                      <a:pPr algn="l"/>
                      <a:r>
                        <a:rPr sz="1200">
                          <a:solidFill>
                            <a:srgbClr val="1F2A44"/>
                          </a:solidFill>
                          <a:latin typeface="Calibri"/>
                        </a:rPr>
                        <a:t>+0</a:t>
                      </a:r>
                    </a:p>
                  </a:txBody>
                  <a:tcPr>
                    <a:solidFill>
                      <a:srgbClr val="F5F7FB"/>
                    </a:solidFill>
                  </a:tcPr>
                </a:tc>
                <a:tc>
                  <a:txBody>
                    <a:bodyPr lIns="60000" rIns="60000" tIns="30000" bIns="30000" wrap="square"/>
                    <a:lstStyle/>
                    <a:p>
                      <a:pPr algn="l"/>
                      <a:r>
                        <a:rPr sz="1200">
                          <a:solidFill>
                            <a:srgbClr val="1F2A44"/>
                          </a:solidFill>
                          <a:latin typeface="Calibri"/>
                        </a:rPr>
                        <a:t>+2</a:t>
                      </a:r>
                    </a:p>
                  </a:txBody>
                  <a:tcPr>
                    <a:solidFill>
                      <a:srgbClr val="F5F7FB"/>
                    </a:solidFill>
                  </a:tcPr>
                </a:tc>
                <a:tc>
                  <a:txBody>
                    <a:bodyPr lIns="60000" rIns="60000" tIns="30000" bIns="30000" wrap="square"/>
                    <a:lstStyle/>
                    <a:p>
                      <a:pPr algn="l"/>
                      <a:r>
                        <a:rPr sz="1200">
                          <a:solidFill>
                            <a:srgbClr val="1F2A44"/>
                          </a:solidFill>
                          <a:latin typeface="Calibri"/>
                        </a:rPr>
                        <a:t>+2</a:t>
                      </a:r>
                    </a:p>
                  </a:txBody>
                  <a:tcPr>
                    <a:solidFill>
                      <a:srgbClr val="F5F7FB"/>
                    </a:solidFill>
                  </a:tcPr>
                </a:tc>
                <a:tc>
                  <a:txBody>
                    <a:bodyPr lIns="60000" rIns="60000" tIns="30000" bIns="30000" wrap="square"/>
                    <a:lstStyle/>
                    <a:p>
                      <a:pPr algn="l"/>
                      <a:r>
                        <a:rPr sz="1200">
                          <a:solidFill>
                            <a:srgbClr val="1F2A44"/>
                          </a:solidFill>
                          <a:latin typeface="Calibri"/>
                        </a:rPr>
                        <a:t>High, fastest-growing</a:t>
                      </a:r>
                    </a:p>
                  </a:txBody>
                  <a:tcPr>
                    <a:solidFill>
                      <a:srgbClr val="F5F7FB"/>
                    </a:solidFill>
                  </a:tcPr>
                </a:tc>
              </a:tr>
              <a:tr h="457200">
                <a:tc>
                  <a:txBody>
                    <a:bodyPr lIns="60000" rIns="60000" tIns="30000" bIns="30000" wrap="square"/>
                    <a:lstStyle/>
                    <a:p>
                      <a:pPr algn="l"/>
                      <a:r>
                        <a:rPr sz="1200">
                          <a:solidFill>
                            <a:srgbClr val="1F2A44"/>
                          </a:solidFill>
                          <a:latin typeface="Calibri"/>
                        </a:rPr>
                        <a:t>Semantic Layer Engineer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60000" rIns="60000" tIns="30000" bIns="30000" wrap="square"/>
                    <a:lstStyle/>
                    <a:p>
                      <a:pPr algn="l"/>
                      <a:r>
                        <a:rPr sz="1200">
                          <a:solidFill>
                            <a:srgbClr val="1F2A44"/>
                          </a:solidFill>
                          <a:latin typeface="Calibri"/>
                        </a:rPr>
                        <a:t>+1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60000" rIns="60000" tIns="30000" bIns="30000" wrap="square"/>
                    <a:lstStyle/>
                    <a:p>
                      <a:pPr algn="l"/>
                      <a:r>
                        <a:rPr sz="1200">
                          <a:solidFill>
                            <a:srgbClr val="1F2A44"/>
                          </a:solidFill>
                          <a:latin typeface="Calibri"/>
                        </a:rPr>
                        <a:t>+1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60000" rIns="60000" tIns="30000" bIns="30000" wrap="square"/>
                    <a:lstStyle/>
                    <a:p>
                      <a:pPr algn="l"/>
                      <a:r>
                        <a:rPr sz="1200">
                          <a:solidFill>
                            <a:srgbClr val="1F2A44"/>
                          </a:solidFill>
                          <a:latin typeface="Calibri"/>
                        </a:rPr>
                        <a:t>+0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60000" rIns="60000" tIns="30000" bIns="30000" wrap="square"/>
                    <a:lstStyle/>
                    <a:p>
                      <a:pPr algn="l"/>
                      <a:r>
                        <a:rPr sz="1200">
                          <a:solidFill>
                            <a:srgbClr val="1F2A44"/>
                          </a:solidFill>
                          <a:latin typeface="Calibri"/>
                        </a:rPr>
                        <a:t>Mid-high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lIns="60000" rIns="60000" tIns="30000" bIns="30000" wrap="square"/>
                    <a:lstStyle/>
                    <a:p>
                      <a:pPr algn="l"/>
                      <a:r>
                        <a:rPr sz="1200">
                          <a:solidFill>
                            <a:srgbClr val="1F2A44"/>
                          </a:solidFill>
                          <a:latin typeface="Calibri"/>
                        </a:rPr>
                        <a:t>Pipeline Engineer</a:t>
                      </a:r>
                    </a:p>
                  </a:txBody>
                  <a:tcPr>
                    <a:solidFill>
                      <a:srgbClr val="F5F7FB"/>
                    </a:solidFill>
                  </a:tcPr>
                </a:tc>
                <a:tc>
                  <a:txBody>
                    <a:bodyPr lIns="60000" rIns="60000" tIns="30000" bIns="30000" wrap="square"/>
                    <a:lstStyle/>
                    <a:p>
                      <a:pPr algn="l"/>
                      <a:r>
                        <a:rPr sz="1200">
                          <a:solidFill>
                            <a:srgbClr val="1F2A44"/>
                          </a:solidFill>
                          <a:latin typeface="Calibri"/>
                        </a:rPr>
                        <a:t>0 (freeze)</a:t>
                      </a:r>
                    </a:p>
                  </a:txBody>
                  <a:tcPr>
                    <a:solidFill>
                      <a:srgbClr val="F5F7FB"/>
                    </a:solidFill>
                  </a:tcPr>
                </a:tc>
                <a:tc>
                  <a:txBody>
                    <a:bodyPr lIns="60000" rIns="60000" tIns="30000" bIns="30000" wrap="square"/>
                    <a:lstStyle/>
                    <a:p>
                      <a:pPr algn="l"/>
                      <a:r>
                        <a:rPr sz="1200">
                          <a:solidFill>
                            <a:srgbClr val="1F2A44"/>
                          </a:solidFill>
                          <a:latin typeface="Calibri"/>
                        </a:rPr>
                        <a:t>0 (freeze)</a:t>
                      </a:r>
                    </a:p>
                  </a:txBody>
                  <a:tcPr>
                    <a:solidFill>
                      <a:srgbClr val="F5F7FB"/>
                    </a:solidFill>
                  </a:tcPr>
                </a:tc>
                <a:tc>
                  <a:txBody>
                    <a:bodyPr lIns="60000" rIns="60000" tIns="30000" bIns="30000" wrap="square"/>
                    <a:lstStyle/>
                    <a:p>
                      <a:pPr algn="l"/>
                      <a:r>
                        <a:rPr sz="1200">
                          <a:solidFill>
                            <a:srgbClr val="1F2A44"/>
                          </a:solidFill>
                          <a:latin typeface="Calibri"/>
                        </a:rPr>
                        <a:t>−2 (attrition)</a:t>
                      </a:r>
                    </a:p>
                  </a:txBody>
                  <a:tcPr>
                    <a:solidFill>
                      <a:srgbClr val="F5F7FB"/>
                    </a:solidFill>
                  </a:tcPr>
                </a:tc>
                <a:tc>
                  <a:txBody>
                    <a:bodyPr lIns="60000" rIns="60000" tIns="30000" bIns="30000" wrap="square"/>
                    <a:lstStyle/>
                    <a:p>
                      <a:pPr algn="l"/>
                      <a:r>
                        <a:rPr sz="1200">
                          <a:solidFill>
                            <a:srgbClr val="1F2A44"/>
                          </a:solidFill>
                          <a:latin typeface="Calibri"/>
                        </a:rPr>
                        <a:t>Flat / declining</a:t>
                      </a:r>
                    </a:p>
                  </a:txBody>
                  <a:tcPr>
                    <a:solidFill>
                      <a:srgbClr val="F5F7FB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02920" y="4709160"/>
            <a:ext cx="11155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1440A8"/>
                </a:solidFill>
                <a:latin typeface="Calibri"/>
              </a:rPr>
              <a:t>Skills to build internally (training budget)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5074920"/>
            <a:ext cx="1115568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>
                <a:solidFill>
                  <a:srgbClr val="1F2A44"/>
                </a:solidFill>
                <a:latin typeface="Calibri"/>
              </a:rPr>
              <a:t>•  Graph databases (Neo4j or similar) · Iceberg / Delta open table formats</a:t>
            </a:r>
          </a:p>
          <a:p>
            <a:pPr algn="l">
              <a:spcAft>
                <a:spcPts val="600"/>
              </a:spcAft>
            </a:pPr>
            <a:r>
              <a:rPr sz="1300">
                <a:solidFill>
                  <a:srgbClr val="1F2A44"/>
                </a:solidFill>
                <a:latin typeface="Calibri"/>
              </a:rPr>
              <a:t>•  Prompt eval + regression testing · cost-per-query telemetry</a:t>
            </a:r>
          </a:p>
          <a:p>
            <a:pPr algn="l">
              <a:spcAft>
                <a:spcPts val="600"/>
              </a:spcAft>
            </a:pPr>
            <a:r>
              <a:rPr sz="1300">
                <a:solidFill>
                  <a:srgbClr val="1F2A44"/>
                </a:solidFill>
                <a:latin typeface="Calibri"/>
              </a:rPr>
              <a:t>•  Differential privacy basics · entitlements + row-level RBAC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B55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>
                <a:solidFill>
                  <a:srgbClr val="1F2A44"/>
                </a:solidFill>
                <a:latin typeface="Calibri"/>
              </a:rPr>
              <a:t>Build vs Buy Framework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7724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5607A"/>
                </a:solidFill>
                <a:latin typeface="Calibri"/>
              </a:rPr>
              <a:t>Re-decide every quarter against the vendor roadmap.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0" y="6446520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A"/>
                </a:solidFill>
                <a:latin typeface="Calibri"/>
              </a:rPr>
              <a:t>12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400800"/>
            <a:ext cx="11155680" cy="18288"/>
          </a:xfrm>
          <a:prstGeom prst="rect">
            <a:avLst/>
          </a:prstGeom>
          <a:solidFill>
            <a:srgbClr val="E3E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02920" y="1371600"/>
            <a:ext cx="3657600" cy="4754880"/>
          </a:xfrm>
          <a:prstGeom prst="roundRect">
            <a:avLst/>
          </a:prstGeom>
          <a:solidFill>
            <a:srgbClr val="F5F7FB"/>
          </a:solidFill>
          <a:ln w="25400">
            <a:solidFill>
              <a:srgbClr val="1F80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02920" y="1371600"/>
            <a:ext cx="3657600" cy="502920"/>
          </a:xfrm>
          <a:prstGeom prst="roundRect">
            <a:avLst/>
          </a:prstGeom>
          <a:solidFill>
            <a:srgbClr val="1F80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417320"/>
            <a:ext cx="33832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Default to BUY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011680"/>
            <a:ext cx="3383280" cy="4023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>
                <a:solidFill>
                  <a:srgbClr val="1F2A44"/>
                </a:solidFill>
                <a:latin typeface="Calibri"/>
              </a:rPr>
              <a:t>•  Single-warehouse (Snowflake-only) → Cortex Analyst</a:t>
            </a:r>
          </a:p>
          <a:p>
            <a:pPr algn="l">
              <a:spcAft>
                <a:spcPts val="600"/>
              </a:spcAft>
            </a:pPr>
            <a:r>
              <a:rPr sz="1200">
                <a:solidFill>
                  <a:srgbClr val="1F2A44"/>
                </a:solidFill>
                <a:latin typeface="Calibri"/>
              </a:rPr>
              <a:t>•  Single-lakehouse (Databricks-only) → Genie + AI/BI</a:t>
            </a:r>
          </a:p>
          <a:p>
            <a:pPr algn="l">
              <a:spcAft>
                <a:spcPts val="600"/>
              </a:spcAft>
            </a:pPr>
            <a:r>
              <a:rPr sz="1200">
                <a:solidFill>
                  <a:srgbClr val="1F2A44"/>
                </a:solidFill>
                <a:latin typeface="Calibri"/>
              </a:rPr>
              <a:t>•  Routine NL-to-SQL → vendor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97680" y="1371600"/>
            <a:ext cx="3657600" cy="4754880"/>
          </a:xfrm>
          <a:prstGeom prst="roundRect">
            <a:avLst/>
          </a:prstGeom>
          <a:solidFill>
            <a:srgbClr val="F5F7FB"/>
          </a:solidFill>
          <a:ln w="25400">
            <a:solidFill>
              <a:srgbClr val="1440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297680" y="1371600"/>
            <a:ext cx="3657600" cy="502920"/>
          </a:xfrm>
          <a:prstGeom prst="roundRect">
            <a:avLst/>
          </a:prstGeom>
          <a:solidFill>
            <a:srgbClr val="1440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34840" y="1417320"/>
            <a:ext cx="33832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BUILD / open-source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34840" y="2011680"/>
            <a:ext cx="3383280" cy="4023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>
                <a:solidFill>
                  <a:srgbClr val="1F2A44"/>
                </a:solidFill>
                <a:latin typeface="Calibri"/>
              </a:rPr>
              <a:t>•  Heterogeneous estate (Oracle + warehouse + SaaS + mainframe)</a:t>
            </a:r>
          </a:p>
          <a:p>
            <a:pPr algn="l">
              <a:spcAft>
                <a:spcPts val="600"/>
              </a:spcAft>
            </a:pPr>
            <a:r>
              <a:rPr sz="1200">
                <a:solidFill>
                  <a:srgbClr val="1F2A44"/>
                </a:solidFill>
                <a:latin typeface="Calibri"/>
              </a:rPr>
              <a:t>•  Domain meaning is regulatory-loaded (HMDA, RESPA, SOX, GDPR)</a:t>
            </a:r>
          </a:p>
          <a:p>
            <a:pPr algn="l">
              <a:spcAft>
                <a:spcPts val="600"/>
              </a:spcAft>
            </a:pPr>
            <a:r>
              <a:rPr sz="1200">
                <a:solidFill>
                  <a:srgbClr val="1F2A44"/>
                </a:solidFill>
                <a:latin typeface="Calibri"/>
              </a:rPr>
              <a:t>•  Cross-vendor ontology / lineage required</a:t>
            </a:r>
          </a:p>
          <a:p>
            <a:pPr algn="l">
              <a:spcAft>
                <a:spcPts val="600"/>
              </a:spcAft>
            </a:pPr>
            <a:r>
              <a:rPr sz="1200">
                <a:solidFill>
                  <a:srgbClr val="1F2A44"/>
                </a:solidFill>
                <a:latin typeface="Calibri"/>
              </a:rPr>
              <a:t>•  Steward governance loop must be customizable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92440" y="1371600"/>
            <a:ext cx="3657600" cy="4754880"/>
          </a:xfrm>
          <a:prstGeom prst="roundRect">
            <a:avLst/>
          </a:prstGeom>
          <a:solidFill>
            <a:srgbClr val="F5F7FB"/>
          </a:solidFill>
          <a:ln w="25400">
            <a:solidFill>
              <a:srgbClr val="C146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092440" y="1371600"/>
            <a:ext cx="3657600" cy="502920"/>
          </a:xfrm>
          <a:prstGeom prst="roundRect">
            <a:avLst/>
          </a:prstGeom>
          <a:solidFill>
            <a:srgbClr val="C146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0" y="1417320"/>
            <a:ext cx="33832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HYBRID — likely answer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0" y="2011680"/>
            <a:ext cx="3383280" cy="4023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>
                <a:solidFill>
                  <a:srgbClr val="1F2A44"/>
                </a:solidFill>
                <a:latin typeface="Calibri"/>
              </a:rPr>
              <a:t>•  Buy warehouse-native NL-to-SQL piece</a:t>
            </a:r>
          </a:p>
          <a:p>
            <a:pPr algn="l">
              <a:spcAft>
                <a:spcPts val="600"/>
              </a:spcAft>
            </a:pPr>
            <a:r>
              <a:rPr sz="1200">
                <a:solidFill>
                  <a:srgbClr val="1F2A44"/>
                </a:solidFill>
                <a:latin typeface="Calibri"/>
              </a:rPr>
              <a:t>•  Build cross-vendor ontology + governance on top</a:t>
            </a:r>
          </a:p>
          <a:p>
            <a:pPr algn="l">
              <a:spcAft>
                <a:spcPts val="600"/>
              </a:spcAft>
            </a:pPr>
            <a:r>
              <a:rPr sz="1200">
                <a:solidFill>
                  <a:srgbClr val="1F2A44"/>
                </a:solidFill>
                <a:latin typeface="Calibri"/>
              </a:rPr>
              <a:t>•  Open-source the contract + semantic spec to avoid lock-in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B55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>
                <a:solidFill>
                  <a:srgbClr val="1F2A44"/>
                </a:solidFill>
                <a:latin typeface="Calibri"/>
              </a:rPr>
              <a:t>Risks &amp; Constraints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7724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5607A"/>
                </a:solidFill>
                <a:latin typeface="Calibri"/>
              </a:rPr>
              <a:t>What can break the plan, and what's already non-negotiable.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0" y="6446520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A"/>
                </a:solidFill>
                <a:latin typeface="Calibri"/>
              </a:rPr>
              <a:t>13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400800"/>
            <a:ext cx="11155680" cy="18288"/>
          </a:xfrm>
          <a:prstGeom prst="rect">
            <a:avLst/>
          </a:prstGeom>
          <a:solidFill>
            <a:srgbClr val="E3E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280160"/>
            <a:ext cx="11155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C1462C"/>
                </a:solidFill>
                <a:latin typeface="Calibri"/>
              </a:rPr>
              <a:t>Top 5 risks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02920" y="1691640"/>
          <a:ext cx="11155680" cy="3108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760720"/>
                <a:gridCol w="5394960"/>
              </a:tblGrid>
              <a:tr h="518160">
                <a:tc>
                  <a:txBody>
                    <a:bodyPr lIns="60000" rIns="60000" tIns="40000" bIns="40000"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Risk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  <a:tc>
                  <a:txBody>
                    <a:bodyPr lIns="60000" rIns="60000" tIns="40000" bIns="40000"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Mitigation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</a:tr>
              <a:tr h="518160">
                <a:tc>
                  <a:txBody>
                    <a:bodyPr lIns="60000" rIns="60000" tIns="30000" bIns="30000" wrap="square"/>
                    <a:lstStyle/>
                    <a:p>
                      <a:pPr algn="l"/>
                      <a:r>
                        <a:rPr sz="1200">
                          <a:solidFill>
                            <a:srgbClr val="1F2A44"/>
                          </a:solidFill>
                          <a:latin typeface="Calibri"/>
                        </a:rPr>
                        <a:t>Vendor closes the gap faster than expected (12-mo earlier shipping).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60000" rIns="60000" tIns="30000" bIns="30000" wrap="square"/>
                    <a:lstStyle/>
                    <a:p>
                      <a:pPr algn="l"/>
                      <a:r>
                        <a:rPr sz="1200">
                          <a:solidFill>
                            <a:srgbClr val="1F2A44"/>
                          </a:solidFill>
                          <a:latin typeface="Calibri"/>
                        </a:rPr>
                        <a:t>Design bridge layer to be portable; reevaluate quarterly.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18160">
                <a:tc>
                  <a:txBody>
                    <a:bodyPr lIns="60000" rIns="60000" tIns="30000" bIns="30000" wrap="square"/>
                    <a:lstStyle/>
                    <a:p>
                      <a:pPr algn="l"/>
                      <a:r>
                        <a:rPr sz="1200">
                          <a:solidFill>
                            <a:srgbClr val="1F2A44"/>
                          </a:solidFill>
                          <a:latin typeface="Calibri"/>
                        </a:rPr>
                        <a:t>Reskilling fails — bottom-tier engineers can't or won't level up.</a:t>
                      </a:r>
                    </a:p>
                  </a:txBody>
                  <a:tcPr>
                    <a:solidFill>
                      <a:srgbClr val="F5F7FB"/>
                    </a:solidFill>
                  </a:tcPr>
                </a:tc>
                <a:tc>
                  <a:txBody>
                    <a:bodyPr lIns="60000" rIns="60000" tIns="30000" bIns="30000" wrap="square"/>
                    <a:lstStyle/>
                    <a:p>
                      <a:pPr algn="l"/>
                      <a:r>
                        <a:rPr sz="1200">
                          <a:solidFill>
                            <a:srgbClr val="1F2A44"/>
                          </a:solidFill>
                          <a:latin typeface="Calibri"/>
                        </a:rPr>
                        <a:t>Explicit 12-month ramp + off-ramp; honest conversations early.</a:t>
                      </a:r>
                    </a:p>
                  </a:txBody>
                  <a:tcPr>
                    <a:solidFill>
                      <a:srgbClr val="F5F7FB"/>
                    </a:solidFill>
                  </a:tcPr>
                </a:tc>
              </a:tr>
              <a:tr h="518160">
                <a:tc>
                  <a:txBody>
                    <a:bodyPr lIns="60000" rIns="60000" tIns="30000" bIns="30000" wrap="square"/>
                    <a:lstStyle/>
                    <a:p>
                      <a:pPr algn="l"/>
                      <a:r>
                        <a:rPr sz="1200">
                          <a:solidFill>
                            <a:srgbClr val="1F2A44"/>
                          </a:solidFill>
                          <a:latin typeface="Calibri"/>
                        </a:rPr>
                        <a:t>Steward labor cost balloons.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60000" rIns="60000" tIns="30000" bIns="30000" wrap="square"/>
                    <a:lstStyle/>
                    <a:p>
                      <a:pPr algn="l"/>
                      <a:r>
                        <a:rPr sz="1200">
                          <a:solidFill>
                            <a:srgbClr val="1F2A44"/>
                          </a:solidFill>
                          <a:latin typeface="Calibri"/>
                        </a:rPr>
                        <a:t>Outsource to managed service or domain-team embedment.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18160">
                <a:tc>
                  <a:txBody>
                    <a:bodyPr lIns="60000" rIns="60000" tIns="30000" bIns="30000" wrap="square"/>
                    <a:lstStyle/>
                    <a:p>
                      <a:pPr algn="l"/>
                      <a:r>
                        <a:rPr sz="1200">
                          <a:solidFill>
                            <a:srgbClr val="1F2A44"/>
                          </a:solidFill>
                          <a:latin typeface="Calibri"/>
                        </a:rPr>
                        <a:t>AI cost volatility — LLM provider raises prices 3x.</a:t>
                      </a:r>
                    </a:p>
                  </a:txBody>
                  <a:tcPr>
                    <a:solidFill>
                      <a:srgbClr val="F5F7FB"/>
                    </a:solidFill>
                  </a:tcPr>
                </a:tc>
                <a:tc>
                  <a:txBody>
                    <a:bodyPr lIns="60000" rIns="60000" tIns="30000" bIns="30000" wrap="square"/>
                    <a:lstStyle/>
                    <a:p>
                      <a:pPr algn="l"/>
                      <a:r>
                        <a:rPr sz="1200">
                          <a:solidFill>
                            <a:srgbClr val="1F2A44"/>
                          </a:solidFill>
                          <a:latin typeface="Calibri"/>
                        </a:rPr>
                        <a:t>Multi-provider abstraction; cost-per-trace budgets enforced in code.</a:t>
                      </a:r>
                    </a:p>
                  </a:txBody>
                  <a:tcPr>
                    <a:solidFill>
                      <a:srgbClr val="F5F7FB"/>
                    </a:solidFill>
                  </a:tcPr>
                </a:tc>
              </a:tr>
              <a:tr h="518160">
                <a:tc>
                  <a:txBody>
                    <a:bodyPr lIns="60000" rIns="60000" tIns="30000" bIns="30000" wrap="square"/>
                    <a:lstStyle/>
                    <a:p>
                      <a:pPr algn="l"/>
                      <a:r>
                        <a:rPr sz="1200">
                          <a:solidFill>
                            <a:srgbClr val="1F2A44"/>
                          </a:solidFill>
                          <a:latin typeface="Calibri"/>
                        </a:rPr>
                        <a:t>Regulatory shock (EU AI Act / state laws) forces rearchitecture.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60000" rIns="60000" tIns="30000" bIns="30000" wrap="square"/>
                    <a:lstStyle/>
                    <a:p>
                      <a:pPr algn="l"/>
                      <a:r>
                        <a:rPr sz="1200">
                          <a:solidFill>
                            <a:srgbClr val="1F2A44"/>
                          </a:solidFill>
                          <a:latin typeface="Calibri"/>
                        </a:rPr>
                        <a:t>Invest in privacy engineering early; multi-region routing in design.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502920" y="4983480"/>
            <a:ext cx="11155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55607A"/>
                </a:solidFill>
                <a:latin typeface="Calibri"/>
              </a:rPr>
              <a:t>Hard constraints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5349240"/>
            <a:ext cx="1115568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>
                <a:solidFill>
                  <a:srgbClr val="1F2A44"/>
                </a:solidFill>
                <a:latin typeface="Calibri"/>
              </a:rPr>
              <a:t>•  Cannot fire pipeline engineers en masse — reputational + execution risk.</a:t>
            </a:r>
          </a:p>
          <a:p>
            <a:pPr algn="l">
              <a:spcAft>
                <a:spcPts val="600"/>
              </a:spcAft>
            </a:pPr>
            <a:r>
              <a:rPr sz="1300">
                <a:solidFill>
                  <a:srgbClr val="1F2A44"/>
                </a:solidFill>
                <a:latin typeface="Calibri"/>
              </a:rPr>
              <a:t>•  Cannot replace Collibra / Alation if already deployed — must augment.</a:t>
            </a:r>
          </a:p>
          <a:p>
            <a:pPr algn="l">
              <a:spcAft>
                <a:spcPts val="600"/>
              </a:spcAft>
            </a:pPr>
            <a:r>
              <a:rPr sz="1300">
                <a:solidFill>
                  <a:srgbClr val="1F2A44"/>
                </a:solidFill>
                <a:latin typeface="Calibri"/>
              </a:rPr>
              <a:t>•  Cannot send PII to external LLMs without enterprise agreements + redaction.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B55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>
                <a:solidFill>
                  <a:srgbClr val="1F2A44"/>
                </a:solidFill>
                <a:latin typeface="Calibri"/>
              </a:rPr>
              <a:t>Decisions Needed Now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7724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5607A"/>
                </a:solidFill>
                <a:latin typeface="Calibri"/>
              </a:rPr>
              <a:t>Three in 30 days. Three in 90. Three deferred but tracked.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0" y="6446520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A"/>
                </a:solidFill>
                <a:latin typeface="Calibri"/>
              </a:rPr>
              <a:t>14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400800"/>
            <a:ext cx="11155680" cy="18288"/>
          </a:xfrm>
          <a:prstGeom prst="rect">
            <a:avLst/>
          </a:prstGeom>
          <a:solidFill>
            <a:srgbClr val="E3E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02920" y="1371600"/>
            <a:ext cx="3657600" cy="502920"/>
          </a:xfrm>
          <a:prstGeom prst="roundRect">
            <a:avLst/>
          </a:prstGeom>
          <a:solidFill>
            <a:srgbClr val="1440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33832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Next 30 days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874519"/>
            <a:ext cx="3657600" cy="4251960"/>
          </a:xfrm>
          <a:prstGeom prst="roundRect">
            <a:avLst/>
          </a:prstGeom>
          <a:solidFill>
            <a:srgbClr val="F5F7FB"/>
          </a:solidFill>
          <a:ln>
            <a:solidFill>
              <a:srgbClr val="1440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2011680"/>
            <a:ext cx="3383280" cy="4023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>
                <a:solidFill>
                  <a:srgbClr val="1F2A44"/>
                </a:solidFill>
                <a:latin typeface="Calibri"/>
              </a:rPr>
              <a:t>•  Approve the hiring shift — freeze pipeline-only roles, open privacy + product-owner reqs.  CTO + CHRO</a:t>
            </a:r>
          </a:p>
          <a:p>
            <a:pPr algn="l">
              <a:spcAft>
                <a:spcPts val="600"/>
              </a:spcAft>
            </a:pPr>
            <a:r>
              <a:rPr sz="1200">
                <a:solidFill>
                  <a:srgbClr val="1F2A44"/>
                </a:solidFill>
                <a:latin typeface="Calibri"/>
              </a:rPr>
              <a:t>•  Pick the semantic layer (Cube / dbt-MetricFlow / build) — decide by end of Q1.  CTO + Head of Platform</a:t>
            </a:r>
          </a:p>
          <a:p>
            <a:pPr algn="l">
              <a:spcAft>
                <a:spcPts val="600"/>
              </a:spcAft>
            </a:pPr>
            <a:r>
              <a:rPr sz="1200">
                <a:solidFill>
                  <a:srgbClr val="1F2A44"/>
                </a:solidFill>
                <a:latin typeface="Calibri"/>
              </a:rPr>
              <a:t>•  Approve reskilling investment — $X M training budget + 6-month productivity dip.  CTO + CFO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97680" y="1371600"/>
            <a:ext cx="3657600" cy="502920"/>
          </a:xfrm>
          <a:prstGeom prst="roundRect">
            <a:avLst/>
          </a:prstGeom>
          <a:solidFill>
            <a:srgbClr val="1B55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34840" y="1417320"/>
            <a:ext cx="33832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Next 90 days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97680" y="1874519"/>
            <a:ext cx="3657600" cy="4251960"/>
          </a:xfrm>
          <a:prstGeom prst="roundRect">
            <a:avLst/>
          </a:prstGeom>
          <a:solidFill>
            <a:srgbClr val="F5F7FB"/>
          </a:solidFill>
          <a:ln>
            <a:solidFill>
              <a:srgbClr val="1B5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34840" y="2011680"/>
            <a:ext cx="3383280" cy="4023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>
                <a:solidFill>
                  <a:srgbClr val="1F2A44"/>
                </a:solidFill>
                <a:latin typeface="Calibri"/>
              </a:rPr>
              <a:t>•  Embed Data Product Owners in 2 domain teams as pilot</a:t>
            </a:r>
          </a:p>
          <a:p>
            <a:pPr algn="l">
              <a:spcAft>
                <a:spcPts val="600"/>
              </a:spcAft>
            </a:pPr>
            <a:r>
              <a:rPr sz="1200">
                <a:solidFill>
                  <a:srgbClr val="1F2A44"/>
                </a:solidFill>
                <a:latin typeface="Calibri"/>
              </a:rPr>
              <a:t>•  Stand up agent ops platform team — 2 FTE seed</a:t>
            </a:r>
          </a:p>
          <a:p>
            <a:pPr algn="l">
              <a:spcAft>
                <a:spcPts val="600"/>
              </a:spcAft>
            </a:pPr>
            <a:r>
              <a:rPr sz="1200">
                <a:solidFill>
                  <a:srgbClr val="1F2A44"/>
                </a:solidFill>
                <a:latin typeface="Calibri"/>
              </a:rPr>
              <a:t>•  Build vs buy quarterly review cadence with vendor-roadmap dashboard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92440" y="1371600"/>
            <a:ext cx="3657600" cy="502920"/>
          </a:xfrm>
          <a:prstGeom prst="roundRect">
            <a:avLst/>
          </a:prstGeom>
          <a:solidFill>
            <a:srgbClr val="5560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0" y="1417320"/>
            <a:ext cx="33832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Deferred but tracked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92440" y="1874519"/>
            <a:ext cx="3657600" cy="4251960"/>
          </a:xfrm>
          <a:prstGeom prst="roundRect">
            <a:avLst/>
          </a:prstGeom>
          <a:solidFill>
            <a:srgbClr val="F5F7FB"/>
          </a:solidFill>
          <a:ln>
            <a:solidFill>
              <a:srgbClr val="5560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0" y="2011680"/>
            <a:ext cx="3383280" cy="4023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>
                <a:solidFill>
                  <a:srgbClr val="1F2A44"/>
                </a:solidFill>
                <a:latin typeface="Calibri"/>
              </a:rPr>
              <a:t>•  Cross-vendor bridge — build vs wait — decision Q3 2026</a:t>
            </a:r>
          </a:p>
          <a:p>
            <a:pPr algn="l">
              <a:spcAft>
                <a:spcPts val="600"/>
              </a:spcAft>
            </a:pPr>
            <a:r>
              <a:rPr sz="1200">
                <a:solidFill>
                  <a:srgbClr val="1F2A44"/>
                </a:solidFill>
                <a:latin typeface="Calibri"/>
              </a:rPr>
              <a:t>•  Steward labor model (embedded vs central vs outsourced) — decision 2027</a:t>
            </a:r>
          </a:p>
          <a:p>
            <a:pPr algn="l">
              <a:spcAft>
                <a:spcPts val="600"/>
              </a:spcAft>
            </a:pPr>
            <a:r>
              <a:rPr sz="1200">
                <a:solidFill>
                  <a:srgbClr val="1F2A44"/>
                </a:solidFill>
                <a:latin typeface="Calibri"/>
              </a:rPr>
              <a:t>•  Multi-LLM provider strategy (single vs multi) — decision 2027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B55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>
                <a:solidFill>
                  <a:srgbClr val="1F2A44"/>
                </a:solidFill>
                <a:latin typeface="Calibri"/>
              </a:rPr>
              <a:t>The Bet We Are Making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7724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5607A"/>
                </a:solidFill>
                <a:latin typeface="Calibri"/>
              </a:rPr>
              <a:t>Closing slide.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0" y="6446520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A"/>
                </a:solidFill>
                <a:latin typeface="Calibri"/>
              </a:rPr>
              <a:t>15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400800"/>
            <a:ext cx="11155680" cy="18288"/>
          </a:xfrm>
          <a:prstGeom prst="rect">
            <a:avLst/>
          </a:prstGeom>
          <a:solidFill>
            <a:srgbClr val="E3E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02920" y="1371600"/>
            <a:ext cx="11155680" cy="1828800"/>
          </a:xfrm>
          <a:prstGeom prst="roundRect">
            <a:avLst/>
          </a:prstGeom>
          <a:solidFill>
            <a:srgbClr val="ECF3FF"/>
          </a:solidFill>
          <a:ln>
            <a:solidFill>
              <a:srgbClr val="1B5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508760"/>
            <a:ext cx="10607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>
                <a:solidFill>
                  <a:srgbClr val="1440A8"/>
                </a:solidFill>
                <a:latin typeface="Calibri"/>
              </a:rPr>
              <a:t>Data Engineering doesn't shrink — it specializes.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1965960"/>
            <a:ext cx="1060704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1F2A44"/>
                </a:solidFill>
                <a:latin typeface="Calibri"/>
              </a:rPr>
              <a:t>Teams that thrive in 2030 will be smaller in plumbing, larger in domain modeling + privacy + agent ops, and indispensable in the multi-vendor + governed-AI space no single vendor will own end-to-end.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3520440"/>
            <a:ext cx="11155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1F2A44"/>
                </a:solidFill>
                <a:latin typeface="Calibri"/>
              </a:rPr>
              <a:t>Our job as leadership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4023360"/>
            <a:ext cx="11155680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>
                <a:solidFill>
                  <a:srgbClr val="1F2A44"/>
                </a:solidFill>
                <a:latin typeface="Calibri"/>
              </a:rPr>
              <a:t>•  Move people up the value curve faster than the market commoditizes the bottom.</a:t>
            </a:r>
          </a:p>
          <a:p>
            <a:pPr algn="l">
              <a:spcAft>
                <a:spcPts val="600"/>
              </a:spcAft>
            </a:pPr>
            <a:r>
              <a:rPr sz="1500">
                <a:solidFill>
                  <a:srgbClr val="1F2A44"/>
                </a:solidFill>
                <a:latin typeface="Calibri"/>
              </a:rPr>
              <a:t>•  Spend 2026 on foundations.  Spend 2027–2028 absorbing agent ops and cross-vendor reasoning.</a:t>
            </a:r>
          </a:p>
          <a:p>
            <a:pPr algn="l">
              <a:spcAft>
                <a:spcPts val="600"/>
              </a:spcAft>
            </a:pPr>
            <a:r>
              <a:rPr sz="1500">
                <a:solidFill>
                  <a:srgbClr val="1F2A44"/>
                </a:solidFill>
                <a:latin typeface="Calibri"/>
              </a:rPr>
              <a:t>•  By 2030, the team should be unrecognizable from today — and indispensable.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5532120"/>
            <a:ext cx="11155680" cy="640080"/>
          </a:xfrm>
          <a:prstGeom prst="roundRect">
            <a:avLst/>
          </a:prstGeom>
          <a:solidFill>
            <a:srgbClr val="FEF6E6"/>
          </a:solidFill>
          <a:ln>
            <a:solidFill>
              <a:srgbClr val="C146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5623560"/>
            <a:ext cx="10607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C1462C"/>
                </a:solidFill>
                <a:latin typeface="Calibri"/>
              </a:rPr>
              <a:t>Ask of leadership: approve the hiring shift, training budget, and quarterly build-vs-buy cadence today.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